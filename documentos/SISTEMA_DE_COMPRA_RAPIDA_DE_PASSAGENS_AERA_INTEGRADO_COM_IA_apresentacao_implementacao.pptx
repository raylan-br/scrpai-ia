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11_DC7017AE.xml" ContentType="application/vnd.ms-powerpoint.comments+xml"/>
  <Override PartName="/ppt/comments/modernComment_10E_25ED75F9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sldIdLst>
    <p:sldId id="347" r:id="rId2"/>
    <p:sldId id="257" r:id="rId3"/>
    <p:sldId id="258" r:id="rId4"/>
    <p:sldId id="319" r:id="rId5"/>
    <p:sldId id="350" r:id="rId6"/>
    <p:sldId id="273" r:id="rId7"/>
    <p:sldId id="348" r:id="rId8"/>
    <p:sldId id="265" r:id="rId9"/>
    <p:sldId id="264" r:id="rId10"/>
    <p:sldId id="349" r:id="rId11"/>
    <p:sldId id="266" r:id="rId12"/>
    <p:sldId id="270" r:id="rId13"/>
    <p:sldId id="327" r:id="rId14"/>
    <p:sldId id="320" r:id="rId15"/>
    <p:sldId id="331" r:id="rId16"/>
    <p:sldId id="328" r:id="rId17"/>
    <p:sldId id="321" r:id="rId18"/>
    <p:sldId id="332" r:id="rId19"/>
    <p:sldId id="329" r:id="rId20"/>
    <p:sldId id="322" r:id="rId21"/>
    <p:sldId id="333" r:id="rId22"/>
    <p:sldId id="330" r:id="rId23"/>
    <p:sldId id="323" r:id="rId24"/>
    <p:sldId id="324" r:id="rId25"/>
    <p:sldId id="334" r:id="rId26"/>
    <p:sldId id="335" r:id="rId27"/>
    <p:sldId id="336" r:id="rId28"/>
    <p:sldId id="352" r:id="rId29"/>
    <p:sldId id="340" r:id="rId30"/>
    <p:sldId id="339" r:id="rId31"/>
    <p:sldId id="337" r:id="rId32"/>
    <p:sldId id="338" r:id="rId33"/>
    <p:sldId id="341" r:id="rId34"/>
    <p:sldId id="342" r:id="rId35"/>
    <p:sldId id="346" r:id="rId36"/>
    <p:sldId id="345" r:id="rId37"/>
    <p:sldId id="344" r:id="rId38"/>
    <p:sldId id="326" r:id="rId39"/>
    <p:sldId id="302" r:id="rId40"/>
    <p:sldId id="351" r:id="rId41"/>
    <p:sldId id="268" r:id="rId42"/>
    <p:sldId id="267" r:id="rId43"/>
  </p:sldIdLst>
  <p:sldSz cx="18288000" cy="10287000"/>
  <p:notesSz cx="6858000" cy="9144000"/>
  <p:embeddedFontLst>
    <p:embeddedFont>
      <p:font typeface="Montserrat" panose="00000500000000000000" pitchFamily="2" charset="0"/>
      <p:regular r:id="rId44"/>
      <p:bold r:id="rId45"/>
      <p:italic r:id="rId46"/>
      <p:boldItalic r:id="rId47"/>
    </p:embeddedFont>
    <p:embeddedFont>
      <p:font typeface="Montserrat Bold" panose="00000800000000000000" pitchFamily="2" charset="0"/>
      <p:regular r:id="rId48"/>
      <p:bold r:id="rId49"/>
    </p:embeddedFont>
    <p:embeddedFont>
      <p:font typeface="Poppins" panose="00000500000000000000" pitchFamily="2" charset="0"/>
      <p:regular r:id="rId50"/>
      <p:bold r:id="rId51"/>
      <p:italic r:id="rId52"/>
      <p:boldItalic r:id="rId53"/>
    </p:embeddedFont>
    <p:embeddedFont>
      <p:font typeface="Poppins Bold" panose="00000800000000000000" pitchFamily="2" charset="0"/>
      <p:regular r:id="rId54"/>
      <p:bold r:id="rId55"/>
    </p:embeddedFont>
    <p:embeddedFont>
      <p:font typeface="Posterama" panose="020B0504020200020000" pitchFamily="34" charset="0"/>
      <p:regular r:id="rId56"/>
      <p:bold r:id="rId57"/>
      <p:italic r:id="rId58"/>
      <p:boldItalic r:id="rId5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90F81B-7F0D-1717-7E74-86C36A639867}" name="RAYLAN BRUNO SANTANA CARVALHO" initials="RC" userId="S::raylan.bruno@discente.ufma.br::c428aab1-1404-4951-b5ec-972555206136" providerId="AD"/>
  <p188:author id="{81714F6F-66E2-9B2A-30C2-ABAE183285CB}" name="VIRGINIA MARIA MONDEGO FERREIRA" initials="VF" userId="S::virginia.mondego@discente.ufma.br::a6a7442d-7d51-4879-bf4c-5210fb5313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E976EF-F599-83AB-BBB5-BC7E9E7BCF53}" v="4" dt="2025-06-30T01:58:57.406"/>
    <p1510:client id="{2374CB80-5A43-D41F-DCA5-2E6AFF3E7F1A}" v="141" dt="2025-07-01T04:13:27.980"/>
    <p1510:client id="{24019DBF-B0AF-6FA1-7E25-B1A0299FA233}" v="53" dt="2025-07-02T00:36:28.324"/>
    <p1510:client id="{41E9750A-C3DE-EC65-793C-B2AA987EE2C6}" v="195" dt="2025-06-30T11:56:11.605"/>
    <p1510:client id="{628A4F5E-03F4-537A-49EC-9508E28AD680}" v="42" dt="2025-07-01T15:52:39.330"/>
    <p1510:client id="{883A1689-B339-F09A-6258-DC94D8191A23}" v="327" dt="2025-07-01T16:11:50.575"/>
    <p1510:client id="{88F6E5D9-2B6D-7C58-7CF9-36E888A34F50}" v="39" dt="2025-07-01T03:39:04.813"/>
    <p1510:client id="{96F7934F-9933-895B-335C-0D61F16BE9F6}" v="123" dt="2025-07-01T02:10:42.384"/>
    <p1510:client id="{A0A279C9-5277-863D-0FA7-8E615BD8CCCE}" v="175" dt="2025-07-01T01:32:04.430"/>
    <p1510:client id="{BC0F320C-9BFD-E7AA-EB06-D4093FCA0DB2}" v="554" dt="2025-07-01T13:02:44.864"/>
    <p1510:client id="{BEFA3986-85AB-AF23-648D-D38180DAA4EF}" v="131" dt="2025-07-02T00:43:43.625"/>
    <p1510:client id="{E929B6B8-CDD8-B7F2-1048-0B795A47F9FB}" v="40" dt="2025-06-30T11:59:44.820"/>
    <p1510:client id="{EC5566BE-4576-8168-772A-14AE35C5405E}" v="3" dt="2025-07-01T15:18:19.279"/>
    <p1510:client id="{F3C8DDB0-0842-CCB6-BCA3-812C03538FD5}" v="794" dt="2025-07-01T03:08:15.523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presProps" Target="presProps.xml"/><Relationship Id="rId65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omments/modernComment_10E_25ED75F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365D284-278D-4F5B-94C5-A41F1AAA88EC}" authorId="{81714F6F-66E2-9B2A-30C2-ABAE183285CB}" created="2025-06-29T21:21:17.442">
    <pc:sldMkLst xmlns:pc="http://schemas.microsoft.com/office/powerpoint/2013/main/command">
      <pc:docMk/>
      <pc:sldMk cId="636319225" sldId="270"/>
    </pc:sldMkLst>
    <p188:replyLst>
      <p188:reply id="{D586BBB1-1DDB-4148-8941-12315FF25B6B}" authorId="{F690F81B-7F0D-1717-7E74-86C36A639867}" created="2025-06-29T23:36:04.407">
        <p188:txBody>
          <a:bodyPr/>
          <a:lstStyle/>
          <a:p>
            <a:r>
              <a:rPr lang="pt-BR"/>
              <a:t>o proximo slide faz isso, eu coloquei só pra poder aparecer a transição</a:t>
            </a:r>
          </a:p>
        </p188:txBody>
      </p188:reply>
    </p188:replyLst>
    <p188:txBody>
      <a:bodyPr/>
      <a:lstStyle/>
      <a:p>
        <a:r>
          <a:rPr lang="pt-BR"/>
          <a:t>Coloca o home de uma forma mais destacada, assim fica sem saber por onde  começa.</a:t>
        </a:r>
      </a:p>
    </p188:txBody>
  </p188:cm>
</p188:cmLst>
</file>

<file path=ppt/comments/modernComment_111_DC7017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EBCD0CA-6F5A-45DE-A407-9CBF0C457526}" authorId="{81714F6F-66E2-9B2A-30C2-ABAE183285CB}" status="resolved" created="2025-06-07T01:34:24.319" complete="100000">
    <pc:sldMkLst xmlns:pc="http://schemas.microsoft.com/office/powerpoint/2013/main/command">
      <pc:docMk/>
      <pc:sldMk cId="3698333614" sldId="273"/>
    </pc:sldMkLst>
    <p188:txBody>
      <a:bodyPr/>
      <a:lstStyle/>
      <a:p>
        <a:r>
          <a:rPr lang="pt-BR"/>
          <a:t>falta algo azul
muito texto. pq n fez como tav?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8/10/relationships/comments" Target="../comments/modernComment_111_DC7017AE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microsoft.com/office/2007/relationships/hdphoto" Target="../media/hdphoto2.wdp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9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E_25ED75F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microsoft.com/office/2007/relationships/hdphoto" Target="../media/hdphoto3.wdp"/><Relationship Id="rId3" Type="http://schemas.openxmlformats.org/officeDocument/2006/relationships/image" Target="../media/image37.svg"/><Relationship Id="rId7" Type="http://schemas.openxmlformats.org/officeDocument/2006/relationships/image" Target="../media/image41.svg"/><Relationship Id="rId12" Type="http://schemas.openxmlformats.org/officeDocument/2006/relationships/image" Target="../media/image1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microsoft.com/office/2007/relationships/hdphoto" Target="../media/hdphoto2.wdp"/><Relationship Id="rId5" Type="http://schemas.openxmlformats.org/officeDocument/2006/relationships/image" Target="../media/image39.svg"/><Relationship Id="rId10" Type="http://schemas.openxmlformats.org/officeDocument/2006/relationships/image" Target="../media/image15.png"/><Relationship Id="rId4" Type="http://schemas.openxmlformats.org/officeDocument/2006/relationships/image" Target="../media/image38.png"/><Relationship Id="rId9" Type="http://schemas.microsoft.com/office/2007/relationships/hdphoto" Target="../media/hdphoto1.wd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g.org/spec/UML/2.5.1/PDF" TargetMode="External"/><Relationship Id="rId2" Type="http://schemas.openxmlformats.org/officeDocument/2006/relationships/hyperlink" Target="https://www.iata.org/en/publications/newsletters/iata-knowledge-hub/key-trends-in-passenger-behavior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0D9BC8-D894-88D5-685F-6A4A49D7E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5EBDE31-2732-3083-7471-42EF26B03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89469" y="927246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1</a:t>
            </a:fld>
            <a:endParaRPr lang="pt-BR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25" name="White and Blue Professional Modern Technology Pitch Deck Presentation">
            <a:hlinkClick r:id="" action="ppaction://media"/>
            <a:extLst>
              <a:ext uri="{FF2B5EF4-FFF2-40B4-BE49-F238E27FC236}">
                <a16:creationId xmlns:a16="http://schemas.microsoft.com/office/drawing/2014/main" id="{2F508AC0-F771-8981-5F14-FFAE6751BF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69010" y="36663"/>
            <a:ext cx="18361323" cy="10256806"/>
          </a:xfrm>
          <a:prstGeom prst="rect">
            <a:avLst/>
          </a:prstGeom>
        </p:spPr>
      </p:pic>
      <p:sp>
        <p:nvSpPr>
          <p:cNvPr id="28" name="TextBox 6">
            <a:extLst>
              <a:ext uri="{FF2B5EF4-FFF2-40B4-BE49-F238E27FC236}">
                <a16:creationId xmlns:a16="http://schemas.microsoft.com/office/drawing/2014/main" id="{58FEE08B-D788-8E0C-3214-A363E139D753}"/>
              </a:ext>
            </a:extLst>
          </p:cNvPr>
          <p:cNvSpPr txBox="1"/>
          <p:nvPr/>
        </p:nvSpPr>
        <p:spPr>
          <a:xfrm>
            <a:off x="895312" y="3492841"/>
            <a:ext cx="7357767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540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SISTEMA DE COMPRA RÁPIDA DE PASSAGEM AÉREA INTEGRADO COM IA</a:t>
            </a:r>
            <a:endParaRPr lang="pt-BR" sz="5400"/>
          </a:p>
        </p:txBody>
      </p:sp>
      <p:pic>
        <p:nvPicPr>
          <p:cNvPr id="30" name="Imagem 29" descr="Governo Federal - Participa + Brasil - Universidade Federal do Maranhão, Imagem">
            <a:extLst>
              <a:ext uri="{FF2B5EF4-FFF2-40B4-BE49-F238E27FC236}">
                <a16:creationId xmlns:a16="http://schemas.microsoft.com/office/drawing/2014/main" id="{9BDBDAD8-4FAE-2605-346F-DCAFF6E83B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591" y="1104974"/>
            <a:ext cx="2698581" cy="1983705"/>
          </a:xfrm>
          <a:prstGeom prst="rect">
            <a:avLst/>
          </a:prstGeom>
        </p:spPr>
      </p:pic>
      <p:sp>
        <p:nvSpPr>
          <p:cNvPr id="3" name="Slide Number Placeholder 17">
            <a:extLst>
              <a:ext uri="{FF2B5EF4-FFF2-40B4-BE49-F238E27FC236}">
                <a16:creationId xmlns:a16="http://schemas.microsoft.com/office/drawing/2014/main" id="{ADF37B10-6EF9-5E05-942C-13D4CF54CA0A}"/>
              </a:ext>
            </a:extLst>
          </p:cNvPr>
          <p:cNvSpPr txBox="1">
            <a:spLocks/>
          </p:cNvSpPr>
          <p:nvPr/>
        </p:nvSpPr>
        <p:spPr>
          <a:xfrm>
            <a:off x="15541869" y="942486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>
                <a:solidFill>
                  <a:schemeClr val="bg1"/>
                </a:solidFill>
              </a:rPr>
              <a:t>1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0497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4663" y="6991636"/>
            <a:ext cx="3296071" cy="1082886"/>
            <a:chOff x="0" y="-16474"/>
            <a:chExt cx="922973" cy="3032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2973" cy="265132"/>
            </a:xfrm>
            <a:custGeom>
              <a:avLst/>
              <a:gdLst/>
              <a:ahLst/>
              <a:cxnLst/>
              <a:rect l="l" t="t" r="r" b="b"/>
              <a:pathLst>
                <a:path w="922973" h="265132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6474"/>
              <a:ext cx="922973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pt-BR" sz="2400">
                  <a:solidFill>
                    <a:schemeClr val="bg1"/>
                  </a:solidFill>
                  <a:latin typeface="Montserrat"/>
                  <a:ea typeface="Calibri"/>
                  <a:cs typeface="Calibri"/>
                </a:rPr>
                <a:t>RAYLAN BRUNO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076529" y="7050467"/>
            <a:ext cx="3296071" cy="946825"/>
            <a:chOff x="0" y="0"/>
            <a:chExt cx="922973" cy="2651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2973" cy="265132"/>
            </a:xfrm>
            <a:custGeom>
              <a:avLst/>
              <a:gdLst/>
              <a:ahLst/>
              <a:cxnLst/>
              <a:rect l="l" t="t" r="r" b="b"/>
              <a:pathLst>
                <a:path w="922973" h="265132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22973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96477" y="7050467"/>
            <a:ext cx="3296071" cy="946825"/>
            <a:chOff x="0" y="0"/>
            <a:chExt cx="922973" cy="2651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22973" cy="265132"/>
            </a:xfrm>
            <a:custGeom>
              <a:avLst/>
              <a:gdLst/>
              <a:ahLst/>
              <a:cxnLst/>
              <a:rect l="l" t="t" r="r" b="b"/>
              <a:pathLst>
                <a:path w="922973" h="265132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22973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62764" y="7050467"/>
            <a:ext cx="3296071" cy="946825"/>
            <a:chOff x="0" y="0"/>
            <a:chExt cx="922973" cy="2651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22973" cy="265132"/>
            </a:xfrm>
            <a:custGeom>
              <a:avLst/>
              <a:gdLst/>
              <a:ahLst/>
              <a:cxnLst/>
              <a:rect l="l" t="t" r="r" b="b"/>
              <a:pathLst>
                <a:path w="922973" h="265132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22973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398158" y="6914406"/>
            <a:ext cx="3296071" cy="1082886"/>
            <a:chOff x="0" y="-38100"/>
            <a:chExt cx="922973" cy="30323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22973" cy="265132"/>
            </a:xfrm>
            <a:custGeom>
              <a:avLst/>
              <a:gdLst/>
              <a:ahLst/>
              <a:cxnLst/>
              <a:rect l="l" t="t" r="r" b="b"/>
              <a:pathLst>
                <a:path w="922973" h="265132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22973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1766494" y="9027459"/>
            <a:ext cx="21820987" cy="1259541"/>
            <a:chOff x="0" y="-38100"/>
            <a:chExt cx="6110362" cy="30323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110362" cy="265132"/>
            </a:xfrm>
            <a:custGeom>
              <a:avLst/>
              <a:gdLst/>
              <a:ahLst/>
              <a:cxnLst/>
              <a:rect l="l" t="t" r="r" b="b"/>
              <a:pathLst>
                <a:path w="6110362" h="265132">
                  <a:moveTo>
                    <a:pt x="0" y="0"/>
                  </a:moveTo>
                  <a:lnTo>
                    <a:pt x="6110362" y="0"/>
                  </a:lnTo>
                  <a:lnTo>
                    <a:pt x="6110362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6110362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1766493" y="-767948"/>
            <a:ext cx="21820987" cy="1963697"/>
            <a:chOff x="0" y="0"/>
            <a:chExt cx="6110362" cy="4936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110362" cy="493651"/>
            </a:xfrm>
            <a:custGeom>
              <a:avLst/>
              <a:gdLst/>
              <a:ahLst/>
              <a:cxnLst/>
              <a:rect l="l" t="t" r="r" b="b"/>
              <a:pathLst>
                <a:path w="6110362" h="493651">
                  <a:moveTo>
                    <a:pt x="0" y="0"/>
                  </a:moveTo>
                  <a:lnTo>
                    <a:pt x="6110362" y="0"/>
                  </a:lnTo>
                  <a:lnTo>
                    <a:pt x="6110362" y="493651"/>
                  </a:lnTo>
                  <a:lnTo>
                    <a:pt x="0" y="493651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110362" cy="531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5518247" y="1236179"/>
            <a:ext cx="7274437" cy="7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EQUIPE CODE5</a:t>
            </a:r>
            <a:endParaRPr lang="en-US" sz="4500" b="1">
              <a:solidFill>
                <a:srgbClr val="051D4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151800C-AB91-4BB7-881F-FB70013A19A1}"/>
              </a:ext>
            </a:extLst>
          </p:cNvPr>
          <p:cNvSpPr txBox="1"/>
          <p:nvPr/>
        </p:nvSpPr>
        <p:spPr>
          <a:xfrm>
            <a:off x="4297062" y="7293575"/>
            <a:ext cx="283587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>
                <a:solidFill>
                  <a:schemeClr val="bg1"/>
                </a:solidFill>
                <a:latin typeface="Montserrat"/>
              </a:rPr>
              <a:t>KAUAN SANTOS</a:t>
            </a:r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E222961-042A-B798-E94A-32B232E2F229}"/>
              </a:ext>
            </a:extLst>
          </p:cNvPr>
          <p:cNvSpPr txBox="1"/>
          <p:nvPr/>
        </p:nvSpPr>
        <p:spPr>
          <a:xfrm>
            <a:off x="7756954" y="7092777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>
                <a:solidFill>
                  <a:srgbClr val="FFFFFF"/>
                </a:solidFill>
                <a:latin typeface="Montserrat"/>
              </a:rPr>
              <a:t>VIRGINIA MONDEGO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691F256-AC55-B61D-3742-77F90F6CBF47}"/>
              </a:ext>
            </a:extLst>
          </p:cNvPr>
          <p:cNvSpPr txBox="1"/>
          <p:nvPr/>
        </p:nvSpPr>
        <p:spPr>
          <a:xfrm>
            <a:off x="11232292" y="7092778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>
                <a:solidFill>
                  <a:srgbClr val="FFFFFF"/>
                </a:solidFill>
                <a:latin typeface="Montserrat"/>
              </a:rPr>
              <a:t>YASMIN CANTANHEDE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3C8EB89-AFC9-7A07-EE61-D614F5827FB0}"/>
              </a:ext>
            </a:extLst>
          </p:cNvPr>
          <p:cNvSpPr txBox="1"/>
          <p:nvPr/>
        </p:nvSpPr>
        <p:spPr>
          <a:xfrm>
            <a:off x="15124671" y="7278130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>
                <a:solidFill>
                  <a:srgbClr val="FFFFFF"/>
                </a:solidFill>
                <a:latin typeface="Montserrat"/>
              </a:rPr>
              <a:t>LILIA ROSA</a:t>
            </a:r>
          </a:p>
        </p:txBody>
      </p:sp>
      <p:sp>
        <p:nvSpPr>
          <p:cNvPr id="29" name="Freeform 47">
            <a:extLst>
              <a:ext uri="{FF2B5EF4-FFF2-40B4-BE49-F238E27FC236}">
                <a16:creationId xmlns:a16="http://schemas.microsoft.com/office/drawing/2014/main" id="{F15E291D-1B22-A856-AA3F-C0D8FA2BD65E}"/>
              </a:ext>
            </a:extLst>
          </p:cNvPr>
          <p:cNvSpPr/>
          <p:nvPr/>
        </p:nvSpPr>
        <p:spPr>
          <a:xfrm>
            <a:off x="6106752" y="1303704"/>
            <a:ext cx="562142" cy="639021"/>
          </a:xfrm>
          <a:custGeom>
            <a:avLst/>
            <a:gdLst/>
            <a:ahLst/>
            <a:cxnLst/>
            <a:rect l="l" t="t" r="r" b="b"/>
            <a:pathLst>
              <a:path w="804521" h="910349">
                <a:moveTo>
                  <a:pt x="0" y="0"/>
                </a:moveTo>
                <a:lnTo>
                  <a:pt x="804522" y="0"/>
                </a:lnTo>
                <a:lnTo>
                  <a:pt x="804522" y="910350"/>
                </a:lnTo>
                <a:lnTo>
                  <a:pt x="0" y="910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31" name="Imagem 30" descr="Pessoa de cabelos curtos usando óculos&#10;&#10;O conteúdo gerado por IA pode estar incorreto.">
            <a:extLst>
              <a:ext uri="{FF2B5EF4-FFF2-40B4-BE49-F238E27FC236}">
                <a16:creationId xmlns:a16="http://schemas.microsoft.com/office/drawing/2014/main" id="{BDB49390-5B5E-5857-7255-C92770466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145" y="2471351"/>
            <a:ext cx="3313157" cy="4448434"/>
          </a:xfrm>
          <a:prstGeom prst="rect">
            <a:avLst/>
          </a:prstGeom>
        </p:spPr>
      </p:pic>
      <p:pic>
        <p:nvPicPr>
          <p:cNvPr id="32" name="Imagem 31" descr="Mulher com óculos de grau&#10;&#10;O conteúdo gerado por IA pode estar incorreto.">
            <a:extLst>
              <a:ext uri="{FF2B5EF4-FFF2-40B4-BE49-F238E27FC236}">
                <a16:creationId xmlns:a16="http://schemas.microsoft.com/office/drawing/2014/main" id="{953BE164-961A-AA87-390C-805D057B90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16" t="14150" r="267" b="14014"/>
          <a:stretch>
            <a:fillRect/>
          </a:stretch>
        </p:blipFill>
        <p:spPr>
          <a:xfrm>
            <a:off x="14403383" y="2475063"/>
            <a:ext cx="3317948" cy="4424082"/>
          </a:xfrm>
          <a:prstGeom prst="rect">
            <a:avLst/>
          </a:prstGeom>
        </p:spPr>
      </p:pic>
      <p:pic>
        <p:nvPicPr>
          <p:cNvPr id="28" name="Imagem 27" descr="Homem tirando foto de si mesmo&#10;&#10;O conteúdo gerado por IA pode estar incorreto.">
            <a:extLst>
              <a:ext uri="{FF2B5EF4-FFF2-40B4-BE49-F238E27FC236}">
                <a16:creationId xmlns:a16="http://schemas.microsoft.com/office/drawing/2014/main" id="{4985BBA9-C390-7E25-E028-66D74A84310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169" t="-32" r="15495" b="407"/>
          <a:stretch>
            <a:fillRect/>
          </a:stretch>
        </p:blipFill>
        <p:spPr>
          <a:xfrm>
            <a:off x="619583" y="2458498"/>
            <a:ext cx="3313050" cy="4439347"/>
          </a:xfrm>
          <a:prstGeom prst="rect">
            <a:avLst/>
          </a:prstGeom>
        </p:spPr>
      </p:pic>
      <p:pic>
        <p:nvPicPr>
          <p:cNvPr id="30" name="Imagem 29" descr="Mulher com óculos de grau&#10;&#10;O conteúdo gerado por IA pode estar incorreto.">
            <a:extLst>
              <a:ext uri="{FF2B5EF4-FFF2-40B4-BE49-F238E27FC236}">
                <a16:creationId xmlns:a16="http://schemas.microsoft.com/office/drawing/2014/main" id="{0E1B3AB4-102F-9CA6-3A5E-7B98E47594C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27" t="12041" r="-1187" b="11484"/>
          <a:stretch>
            <a:fillRect/>
          </a:stretch>
        </p:blipFill>
        <p:spPr>
          <a:xfrm>
            <a:off x="10963152" y="2474773"/>
            <a:ext cx="3326031" cy="4444621"/>
          </a:xfrm>
          <a:prstGeom prst="rect">
            <a:avLst/>
          </a:prstGeom>
        </p:spPr>
      </p:pic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50AEC37C-998A-8C66-F12D-5A2807250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43538" y="946098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2</a:t>
            </a:fld>
            <a:endParaRPr lang="pt-BR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33" name="Imagem 32" descr="Homem de camisa preta&#10;&#10;O conteúdo gerado por IA pode estar incorreto.">
            <a:extLst>
              <a:ext uri="{FF2B5EF4-FFF2-40B4-BE49-F238E27FC236}">
                <a16:creationId xmlns:a16="http://schemas.microsoft.com/office/drawing/2014/main" id="{AA25E83B-322C-93A2-729B-1C6FA3F444E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1159" t="22080" r="-8" b="-252"/>
          <a:stretch>
            <a:fillRect/>
          </a:stretch>
        </p:blipFill>
        <p:spPr>
          <a:xfrm>
            <a:off x="4108894" y="2468478"/>
            <a:ext cx="3258827" cy="44425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74666" y="-315404"/>
            <a:ext cx="3964281" cy="10917809"/>
            <a:chOff x="0" y="0"/>
            <a:chExt cx="1044090" cy="28754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90624" y="1088313"/>
            <a:ext cx="6760246" cy="125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lang="en-US" sz="730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SUMÁRIO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1867766" y="-1398869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97625" y="3203958"/>
            <a:ext cx="6967391" cy="5089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3200" spc="-57">
                <a:solidFill>
                  <a:srgbClr val="000000"/>
                </a:solidFill>
                <a:latin typeface="Posterama"/>
                <a:cs typeface="Posterama"/>
              </a:rPr>
              <a:t>INTRODUÇÃO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3200" spc="-57">
                <a:solidFill>
                  <a:srgbClr val="051D40"/>
                </a:solidFill>
                <a:latin typeface="Posterama"/>
                <a:cs typeface="Posterama"/>
              </a:rPr>
              <a:t>MERCADO ATUAL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3200" spc="-57">
                <a:solidFill>
                  <a:srgbClr val="051D40"/>
                </a:solidFill>
                <a:latin typeface="Posterama"/>
                <a:cs typeface="Posterama"/>
              </a:rPr>
              <a:t>SOBRE O SISTEMA SKAI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3200" spc="-57">
                <a:solidFill>
                  <a:srgbClr val="051D40"/>
                </a:solidFill>
                <a:latin typeface="Posterama"/>
                <a:cs typeface="Posterama"/>
              </a:rPr>
              <a:t>BENEFICIOS DO SISTEMA</a:t>
            </a:r>
            <a:endParaRPr lang="en-US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3200" spc="-57">
                <a:latin typeface="Posterama"/>
                <a:cs typeface="Posterama"/>
              </a:rPr>
              <a:t>REQUISITOS </a:t>
            </a:r>
            <a:endParaRPr lang="en-US"/>
          </a:p>
          <a:p>
            <a:pPr marL="0" lvl="1">
              <a:lnSpc>
                <a:spcPct val="150000"/>
              </a:lnSpc>
            </a:pPr>
            <a:r>
              <a:rPr lang="pt-BR" sz="3200" spc="-57">
                <a:solidFill>
                  <a:srgbClr val="000000"/>
                </a:solidFill>
                <a:latin typeface="Posterama"/>
                <a:cs typeface="Posterama"/>
              </a:rPr>
              <a:t> 5.1 REQUISITOS FUNCIONAIS</a:t>
            </a:r>
            <a:r>
              <a:rPr lang="en-US" sz="3200" spc="-57">
                <a:solidFill>
                  <a:srgbClr val="000000"/>
                </a:solidFill>
                <a:latin typeface="Posterama"/>
                <a:cs typeface="Posterama"/>
              </a:rPr>
              <a:t> </a:t>
            </a:r>
            <a:endParaRPr lang="en-US" sz="3200" spc="-57">
              <a:solidFill>
                <a:srgbClr val="051D40"/>
              </a:solidFill>
              <a:latin typeface="Posterama"/>
              <a:cs typeface="Posterama"/>
            </a:endParaRPr>
          </a:p>
          <a:p>
            <a:pPr marL="0" lvl="1">
              <a:lnSpc>
                <a:spcPct val="150000"/>
              </a:lnSpc>
            </a:pPr>
            <a:r>
              <a:rPr lang="pt-BR" sz="3200" spc="-57">
                <a:solidFill>
                  <a:srgbClr val="000000"/>
                </a:solidFill>
                <a:latin typeface="Posterama"/>
                <a:cs typeface="Posterama"/>
              </a:rPr>
              <a:t> 5.2 REQUISITOS NÃO FUNCIONAIS</a:t>
            </a:r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9A663A3A-4035-7968-2F4F-374AF4BAF0AD}"/>
              </a:ext>
            </a:extLst>
          </p:cNvPr>
          <p:cNvSpPr/>
          <p:nvPr/>
        </p:nvSpPr>
        <p:spPr>
          <a:xfrm>
            <a:off x="2949687" y="1288695"/>
            <a:ext cx="899039" cy="827310"/>
          </a:xfrm>
          <a:custGeom>
            <a:avLst/>
            <a:gdLst/>
            <a:ahLst/>
            <a:cxnLst/>
            <a:rect l="l" t="t" r="r" b="b"/>
            <a:pathLst>
              <a:path w="698242" h="672851">
                <a:moveTo>
                  <a:pt x="0" y="0"/>
                </a:moveTo>
                <a:lnTo>
                  <a:pt x="698241" y="0"/>
                </a:lnTo>
                <a:lnTo>
                  <a:pt x="698241" y="672851"/>
                </a:lnTo>
                <a:lnTo>
                  <a:pt x="0" y="67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B8AF0DD-B2D0-026A-446F-04C123628FD6}"/>
              </a:ext>
            </a:extLst>
          </p:cNvPr>
          <p:cNvSpPr txBox="1"/>
          <p:nvPr/>
        </p:nvSpPr>
        <p:spPr>
          <a:xfrm>
            <a:off x="8600329" y="3209102"/>
            <a:ext cx="6759145" cy="37089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pt-BR" sz="3200">
                <a:latin typeface="Posterama"/>
                <a:cs typeface="Posterama"/>
              </a:rPr>
              <a:t>6. ROTAS E TELAS DO SISTEMA</a:t>
            </a:r>
          </a:p>
          <a:p>
            <a:pPr>
              <a:lnSpc>
                <a:spcPct val="150000"/>
              </a:lnSpc>
            </a:pPr>
            <a:r>
              <a:rPr lang="pt-BR" sz="3200">
                <a:latin typeface="Posterama"/>
                <a:cs typeface="Posterama"/>
              </a:rPr>
              <a:t>7. PRECIFICAÇÃO</a:t>
            </a:r>
            <a:r>
              <a:rPr lang="en-US" sz="3200">
                <a:latin typeface="Posterama"/>
                <a:cs typeface="Posterama"/>
              </a:rPr>
              <a:t> E</a:t>
            </a:r>
            <a:r>
              <a:rPr lang="pt-BR" sz="3200">
                <a:latin typeface="Posterama"/>
                <a:cs typeface="Posterama"/>
              </a:rPr>
              <a:t> RETORNO FINANCEIRO</a:t>
            </a:r>
            <a:endParaRPr lang="en-US" sz="3200">
              <a:latin typeface="Posterama"/>
              <a:ea typeface="Calibri"/>
              <a:cs typeface="Posterama"/>
            </a:endParaRPr>
          </a:p>
          <a:p>
            <a:pPr>
              <a:lnSpc>
                <a:spcPct val="150000"/>
              </a:lnSpc>
            </a:pPr>
            <a:r>
              <a:rPr lang="pt-BR" sz="3200">
                <a:latin typeface="Posterama"/>
                <a:ea typeface="Calibri"/>
                <a:cs typeface="Posterama"/>
              </a:rPr>
              <a:t>9. DEMONSTRAÇÃO DO PROTÓTIPO</a:t>
            </a:r>
            <a:endParaRPr lang="pt-BR"/>
          </a:p>
        </p:txBody>
      </p:sp>
      <p:pic>
        <p:nvPicPr>
          <p:cNvPr id="17" name="Imagem 16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3187F37A-00CB-00D4-8048-69B89539431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7308" t="34866" r="17308" b="35812"/>
          <a:stretch>
            <a:fillRect/>
          </a:stretch>
        </p:blipFill>
        <p:spPr>
          <a:xfrm>
            <a:off x="1402939" y="1452142"/>
            <a:ext cx="12882675" cy="581801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8D845D7-6A0B-30A4-22A8-F88737D47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72239" y="941900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3</a:t>
            </a:fld>
            <a:endParaRPr lang="pt-BR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E2118E-765D-71D9-0245-EA4F91228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1F48C65-0002-9106-5116-624AE4FD4D3A}"/>
              </a:ext>
            </a:extLst>
          </p:cNvPr>
          <p:cNvGrpSpPr/>
          <p:nvPr/>
        </p:nvGrpSpPr>
        <p:grpSpPr>
          <a:xfrm>
            <a:off x="15274666" y="-315404"/>
            <a:ext cx="3964281" cy="10917809"/>
            <a:chOff x="0" y="0"/>
            <a:chExt cx="1044090" cy="28754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641D4FD-37A3-3204-726C-8B015E1C4F66}"/>
                </a:ext>
              </a:extLst>
            </p:cNvPr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D57D356-0096-2CE2-D3B9-1F55749DCE24}"/>
                </a:ext>
              </a:extLst>
            </p:cNvPr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00B8021-3812-ED9C-21FE-CE65891900E6}"/>
              </a:ext>
            </a:extLst>
          </p:cNvPr>
          <p:cNvGrpSpPr/>
          <p:nvPr/>
        </p:nvGrpSpPr>
        <p:grpSpPr>
          <a:xfrm>
            <a:off x="-1867766" y="-1398869"/>
            <a:ext cx="3735531" cy="3735531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9855394-E716-6388-4160-F52F38FE0C6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6BDF1F3-4B67-A2B9-78F3-AFE13515318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2295CA-725A-DEC9-A659-739373C4A415}"/>
              </a:ext>
            </a:extLst>
          </p:cNvPr>
          <p:cNvSpPr txBox="1"/>
          <p:nvPr/>
        </p:nvSpPr>
        <p:spPr>
          <a:xfrm>
            <a:off x="1866888" y="3820197"/>
            <a:ext cx="5556653" cy="41614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600">
                <a:ea typeface="+mn-lt"/>
                <a:cs typeface="+mn-lt"/>
              </a:rPr>
              <a:t>A compra de passagens aéreas ainda é um processo </a:t>
            </a:r>
            <a:r>
              <a:rPr lang="pt-BR" sz="3600">
                <a:latin typeface="Posterama"/>
                <a:ea typeface="+mn-lt"/>
                <a:cs typeface="+mn-lt"/>
              </a:rPr>
              <a:t>demorado</a:t>
            </a:r>
            <a:r>
              <a:rPr lang="pt-BR" sz="3600">
                <a:ea typeface="+mn-lt"/>
                <a:cs typeface="+mn-lt"/>
              </a:rPr>
              <a:t> e confuso, com muitos sites e informações desconexas.</a:t>
            </a:r>
            <a:endParaRPr lang="pt-BR" sz="2000">
              <a:ea typeface="Calibri"/>
              <a:cs typeface="Calibri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442172-564A-F84C-6C3E-F94ED4868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133225" y="929543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4</a:t>
            </a:fld>
            <a:endParaRPr lang="pt-BR" sz="3600">
              <a:solidFill>
                <a:schemeClr val="bg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B75287-230E-3A24-FA1B-00C7F37F2EFE}"/>
              </a:ext>
            </a:extLst>
          </p:cNvPr>
          <p:cNvSpPr txBox="1"/>
          <p:nvPr/>
        </p:nvSpPr>
        <p:spPr>
          <a:xfrm>
            <a:off x="5151493" y="1690409"/>
            <a:ext cx="10692244" cy="6485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675"/>
              </a:lnSpc>
            </a:pPr>
            <a:r>
              <a:rPr lang="en-US" sz="6000" b="1">
                <a:solidFill>
                  <a:srgbClr val="051D40"/>
                </a:solidFill>
                <a:latin typeface="Montserrat Bold"/>
              </a:rPr>
              <a:t>INTRODUÇÃO</a:t>
            </a:r>
            <a:endParaRPr lang="pt-BR"/>
          </a:p>
        </p:txBody>
      </p:sp>
      <p:pic>
        <p:nvPicPr>
          <p:cNvPr id="10" name="Imagem 9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AF167A53-689B-78A0-C312-AC62DC3EFF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8" t="1285" r="-211" b="438"/>
          <a:stretch>
            <a:fillRect/>
          </a:stretch>
        </p:blipFill>
        <p:spPr>
          <a:xfrm>
            <a:off x="8474807" y="2597042"/>
            <a:ext cx="6804154" cy="668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30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CB9841-CE74-4C40-E558-6B8A710F7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E889DD3-EF68-79B4-745D-D25267B8B3BD}"/>
              </a:ext>
            </a:extLst>
          </p:cNvPr>
          <p:cNvGrpSpPr/>
          <p:nvPr/>
        </p:nvGrpSpPr>
        <p:grpSpPr>
          <a:xfrm>
            <a:off x="15274666" y="-315404"/>
            <a:ext cx="3964281" cy="10917809"/>
            <a:chOff x="0" y="0"/>
            <a:chExt cx="1044090" cy="28754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45DB339-81E6-68A8-21EB-153CE7068DD7}"/>
                </a:ext>
              </a:extLst>
            </p:cNvPr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BEB89A0-8511-8807-4836-0D6CEF619A27}"/>
                </a:ext>
              </a:extLst>
            </p:cNvPr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544CD8D-D00D-66D0-DFEC-0C74B57259D5}"/>
              </a:ext>
            </a:extLst>
          </p:cNvPr>
          <p:cNvGrpSpPr/>
          <p:nvPr/>
        </p:nvGrpSpPr>
        <p:grpSpPr>
          <a:xfrm>
            <a:off x="-1867766" y="-1398869"/>
            <a:ext cx="3735531" cy="3735531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A2762D5-FBB0-37A7-2CF6-4CC2601552F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59DE5C7-BC5F-2B26-334D-C4E0174EF49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5A77F47-6E80-6D40-86E4-91373B254970}"/>
              </a:ext>
            </a:extLst>
          </p:cNvPr>
          <p:cNvSpPr txBox="1"/>
          <p:nvPr/>
        </p:nvSpPr>
        <p:spPr>
          <a:xfrm>
            <a:off x="1866888" y="3820197"/>
            <a:ext cx="5556653" cy="41614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600">
                <a:ea typeface="+mn-lt"/>
                <a:cs typeface="+mn-lt"/>
              </a:rPr>
              <a:t>A compra de passagens aéreas ainda é um processo </a:t>
            </a:r>
            <a:r>
              <a:rPr lang="pt-BR" sz="3600">
                <a:latin typeface="Posterama"/>
                <a:ea typeface="+mn-lt"/>
                <a:cs typeface="+mn-lt"/>
              </a:rPr>
              <a:t>demorado</a:t>
            </a:r>
            <a:r>
              <a:rPr lang="pt-BR" sz="3600">
                <a:ea typeface="+mn-lt"/>
                <a:cs typeface="+mn-lt"/>
              </a:rPr>
              <a:t> e confuso, com muitos sites e informações desconexas.</a:t>
            </a:r>
            <a:endParaRPr lang="pt-BR" sz="2000">
              <a:ea typeface="Calibri"/>
              <a:cs typeface="Calibri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75E7B2C-DEC1-9789-C73D-23A1A1E80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133225" y="929543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5</a:t>
            </a:fld>
            <a:endParaRPr lang="pt-BR" sz="3600">
              <a:solidFill>
                <a:schemeClr val="bg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E22E1AB-1107-8541-6171-40A5F02211CE}"/>
              </a:ext>
            </a:extLst>
          </p:cNvPr>
          <p:cNvSpPr txBox="1"/>
          <p:nvPr/>
        </p:nvSpPr>
        <p:spPr>
          <a:xfrm>
            <a:off x="5151493" y="1690409"/>
            <a:ext cx="10692244" cy="6485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675"/>
              </a:lnSpc>
            </a:pPr>
            <a:r>
              <a:rPr lang="en-US" sz="6000" b="1">
                <a:solidFill>
                  <a:srgbClr val="051D40"/>
                </a:solidFill>
                <a:latin typeface="Montserrat Bold"/>
              </a:rPr>
              <a:t>INTRODUÇÃO</a:t>
            </a:r>
            <a:endParaRPr lang="pt-BR"/>
          </a:p>
        </p:txBody>
      </p:sp>
      <p:pic>
        <p:nvPicPr>
          <p:cNvPr id="10" name="Imagem 9" descr="Ícone&#10;&#10;O conteúdo gerado por IA pode estar incorreto.">
            <a:extLst>
              <a:ext uri="{FF2B5EF4-FFF2-40B4-BE49-F238E27FC236}">
                <a16:creationId xmlns:a16="http://schemas.microsoft.com/office/drawing/2014/main" id="{5527F1B6-C411-EE6F-41EE-558EC34E8A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4" t="564" b="5710"/>
          <a:stretch>
            <a:fillRect/>
          </a:stretch>
        </p:blipFill>
        <p:spPr>
          <a:xfrm>
            <a:off x="8596875" y="2575501"/>
            <a:ext cx="6682061" cy="637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33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80CCE-A7F4-3EC4-3B27-D71280AEC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AE0A1BA0-16B4-8D45-5897-9F18E184A0FA}"/>
              </a:ext>
            </a:extLst>
          </p:cNvPr>
          <p:cNvSpPr txBox="1"/>
          <p:nvPr/>
        </p:nvSpPr>
        <p:spPr>
          <a:xfrm>
            <a:off x="746869" y="761594"/>
            <a:ext cx="8784767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300"/>
              </a:lnSpc>
              <a:spcBef>
                <a:spcPct val="0"/>
              </a:spcBef>
            </a:pPr>
            <a:r>
              <a:rPr lang="en-US" sz="60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MERCADO ATUAL</a:t>
            </a:r>
            <a:endParaRPr lang="en-US" sz="5400" b="1" u="none" strike="noStrike">
              <a:solidFill>
                <a:srgbClr val="051D40"/>
              </a:solidFill>
              <a:latin typeface="Montserrat Bold"/>
              <a:ea typeface="Montserrat Bold"/>
              <a:cs typeface="Montserrat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740AB00-6CC3-0160-AD8C-ADF396231526}"/>
              </a:ext>
            </a:extLst>
          </p:cNvPr>
          <p:cNvGrpSpPr/>
          <p:nvPr/>
        </p:nvGrpSpPr>
        <p:grpSpPr>
          <a:xfrm>
            <a:off x="-1595820" y="-1782102"/>
            <a:ext cx="3564204" cy="3564204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33097E7-ECAE-1BBC-3F0F-9D39EAA2587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A47B83F-35A8-622B-1739-D96DC3E4C4A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A631E5C-BBE2-3C74-0DD9-B70C884978A3}"/>
              </a:ext>
            </a:extLst>
          </p:cNvPr>
          <p:cNvGrpSpPr/>
          <p:nvPr/>
        </p:nvGrpSpPr>
        <p:grpSpPr>
          <a:xfrm>
            <a:off x="15122169" y="8541305"/>
            <a:ext cx="5946973" cy="5946973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FDBAB13-79A9-9575-6EAC-A5858AEF62C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chemeClr val="bg1"/>
            </a:solidFill>
            <a:ln w="95250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AACBB718-6D68-4E2E-DC85-7BAF5C4BA23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m 31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8D5BC8FD-7871-AB89-3E41-CD9068F8B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7308" t="34866" r="17308" b="35812"/>
          <a:stretch>
            <a:fillRect/>
          </a:stretch>
        </p:blipFill>
        <p:spPr>
          <a:xfrm>
            <a:off x="410898" y="8902089"/>
            <a:ext cx="2282524" cy="1026805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4FB95578-2778-467E-72CF-745DB88C9D47}"/>
              </a:ext>
            </a:extLst>
          </p:cNvPr>
          <p:cNvSpPr txBox="1"/>
          <p:nvPr/>
        </p:nvSpPr>
        <p:spPr>
          <a:xfrm>
            <a:off x="7011503" y="8850153"/>
            <a:ext cx="2652877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pt-BR" sz="3600" spc="-57">
                <a:ea typeface="+mn-lt"/>
                <a:cs typeface="+mn-lt"/>
              </a:rPr>
              <a:t>(IATA, 2024)</a:t>
            </a:r>
            <a:endParaRPr lang="pt-BR" sz="2800" spc="-57">
              <a:ea typeface="Calibri"/>
              <a:cs typeface="Calibri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6C9EECB7-5B0A-68DD-A34D-F5485F08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416463" y="942147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6</a:t>
            </a:fld>
            <a:endParaRPr lang="pt-BR" sz="3600">
              <a:solidFill>
                <a:schemeClr val="tx1"/>
              </a:solidFill>
            </a:endParaRPr>
          </a:p>
        </p:txBody>
      </p:sp>
      <p:sp>
        <p:nvSpPr>
          <p:cNvPr id="4" name="Retângulo: Cantos Diagonais Arredondados 3">
            <a:extLst>
              <a:ext uri="{FF2B5EF4-FFF2-40B4-BE49-F238E27FC236}">
                <a16:creationId xmlns:a16="http://schemas.microsoft.com/office/drawing/2014/main" id="{158456D6-B9A7-5D62-BF6E-49095C467660}"/>
              </a:ext>
            </a:extLst>
          </p:cNvPr>
          <p:cNvSpPr/>
          <p:nvPr/>
        </p:nvSpPr>
        <p:spPr>
          <a:xfrm>
            <a:off x="9178635" y="2372590"/>
            <a:ext cx="4849091" cy="2770909"/>
          </a:xfrm>
          <a:prstGeom prst="round2DiagRect">
            <a:avLst/>
          </a:prstGeom>
          <a:solidFill>
            <a:srgbClr val="0070C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C9575F7-E7C9-9660-AC20-70790B97F4A2}"/>
              </a:ext>
            </a:extLst>
          </p:cNvPr>
          <p:cNvSpPr txBox="1"/>
          <p:nvPr/>
        </p:nvSpPr>
        <p:spPr>
          <a:xfrm>
            <a:off x="9303523" y="2708863"/>
            <a:ext cx="4409106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6000" b="1">
                <a:solidFill>
                  <a:schemeClr val="bg1"/>
                </a:solidFill>
                <a:ea typeface="Calibri"/>
                <a:cs typeface="Calibri"/>
              </a:rPr>
              <a:t>71%</a:t>
            </a:r>
            <a:r>
              <a:rPr lang="pt-BR" sz="60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pt-BR" sz="3200">
                <a:solidFill>
                  <a:schemeClr val="bg1"/>
                </a:solidFill>
                <a:ea typeface="Calibri"/>
                <a:cs typeface="Calibri"/>
              </a:rPr>
              <a:t>preferem fazer reservas online ou via aplicativos.</a:t>
            </a:r>
          </a:p>
        </p:txBody>
      </p:sp>
      <p:sp>
        <p:nvSpPr>
          <p:cNvPr id="11" name="Retângulo: Cantos Diagonais Arredondados 10">
            <a:extLst>
              <a:ext uri="{FF2B5EF4-FFF2-40B4-BE49-F238E27FC236}">
                <a16:creationId xmlns:a16="http://schemas.microsoft.com/office/drawing/2014/main" id="{B4EDB68B-672C-D945-9D65-DBDAB6978261}"/>
              </a:ext>
            </a:extLst>
          </p:cNvPr>
          <p:cNvSpPr/>
          <p:nvPr/>
        </p:nvSpPr>
        <p:spPr>
          <a:xfrm>
            <a:off x="3619499" y="2424544"/>
            <a:ext cx="4849091" cy="2770909"/>
          </a:xfrm>
          <a:prstGeom prst="round2DiagRect">
            <a:avLst/>
          </a:prstGeom>
          <a:solidFill>
            <a:srgbClr val="0070C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8FD7D84-6AA7-2A2D-AE91-80B5C3EFC365}"/>
              </a:ext>
            </a:extLst>
          </p:cNvPr>
          <p:cNvSpPr txBox="1"/>
          <p:nvPr/>
        </p:nvSpPr>
        <p:spPr>
          <a:xfrm>
            <a:off x="3613177" y="2794912"/>
            <a:ext cx="4851305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6000" b="1">
                <a:solidFill>
                  <a:schemeClr val="bg1"/>
                </a:solidFill>
                <a:ea typeface="Calibri"/>
                <a:cs typeface="Calibri"/>
              </a:rPr>
              <a:t>85%</a:t>
            </a:r>
            <a:r>
              <a:rPr lang="pt-BR" sz="3200" b="1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pt-BR" sz="3200">
                <a:solidFill>
                  <a:schemeClr val="bg1"/>
                </a:solidFill>
                <a:ea typeface="Calibri"/>
                <a:cs typeface="Calibri"/>
              </a:rPr>
              <a:t>compartilham dados antecipadamente de imigração</a:t>
            </a:r>
          </a:p>
        </p:txBody>
      </p:sp>
      <p:sp>
        <p:nvSpPr>
          <p:cNvPr id="17" name="Retângulo: Cantos Diagonais Arredondados 16">
            <a:extLst>
              <a:ext uri="{FF2B5EF4-FFF2-40B4-BE49-F238E27FC236}">
                <a16:creationId xmlns:a16="http://schemas.microsoft.com/office/drawing/2014/main" id="{73CBB4F9-EC8F-A8C2-6EBD-017849EC05B9}"/>
              </a:ext>
            </a:extLst>
          </p:cNvPr>
          <p:cNvSpPr/>
          <p:nvPr/>
        </p:nvSpPr>
        <p:spPr>
          <a:xfrm>
            <a:off x="9074725" y="5472544"/>
            <a:ext cx="4849091" cy="2770909"/>
          </a:xfrm>
          <a:prstGeom prst="round2DiagRect">
            <a:avLst/>
          </a:prstGeom>
          <a:solidFill>
            <a:srgbClr val="0070C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9D12C56-1129-AFC5-B9C7-C75710210A33}"/>
              </a:ext>
            </a:extLst>
          </p:cNvPr>
          <p:cNvSpPr txBox="1"/>
          <p:nvPr/>
        </p:nvSpPr>
        <p:spPr>
          <a:xfrm>
            <a:off x="9207754" y="5593529"/>
            <a:ext cx="4720833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6000" b="1">
                <a:solidFill>
                  <a:schemeClr val="bg1"/>
                </a:solidFill>
                <a:ea typeface="Calibri"/>
                <a:cs typeface="Calibri"/>
              </a:rPr>
              <a:t>53%</a:t>
            </a:r>
            <a:r>
              <a:rPr lang="pt-BR" sz="3200">
                <a:solidFill>
                  <a:schemeClr val="bg1"/>
                </a:solidFill>
                <a:ea typeface="Calibri"/>
                <a:cs typeface="Calibri"/>
              </a:rPr>
              <a:t> preferem às plataformas digitais das próprias companhias aéreas.</a:t>
            </a:r>
          </a:p>
        </p:txBody>
      </p:sp>
      <p:sp>
        <p:nvSpPr>
          <p:cNvPr id="21" name="Retângulo: Cantos Diagonais Arredondados 20">
            <a:extLst>
              <a:ext uri="{FF2B5EF4-FFF2-40B4-BE49-F238E27FC236}">
                <a16:creationId xmlns:a16="http://schemas.microsoft.com/office/drawing/2014/main" id="{71C98945-C5A5-91D4-0739-60ACEDC8B364}"/>
              </a:ext>
            </a:extLst>
          </p:cNvPr>
          <p:cNvSpPr/>
          <p:nvPr/>
        </p:nvSpPr>
        <p:spPr>
          <a:xfrm>
            <a:off x="3480953" y="5472543"/>
            <a:ext cx="4849091" cy="2770909"/>
          </a:xfrm>
          <a:prstGeom prst="round2DiagRect">
            <a:avLst/>
          </a:prstGeom>
          <a:solidFill>
            <a:srgbClr val="0070C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1F39D57-A66E-CC1D-E77F-0430921E93D4}"/>
              </a:ext>
            </a:extLst>
          </p:cNvPr>
          <p:cNvSpPr txBox="1"/>
          <p:nvPr/>
        </p:nvSpPr>
        <p:spPr>
          <a:xfrm>
            <a:off x="3647278" y="5867157"/>
            <a:ext cx="4528707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6000" b="1">
                <a:solidFill>
                  <a:schemeClr val="bg1"/>
                </a:solidFill>
                <a:ea typeface="Calibri"/>
                <a:cs typeface="Calibri"/>
              </a:rPr>
              <a:t>89%</a:t>
            </a:r>
            <a:r>
              <a:rPr lang="pt-BR" sz="2800">
                <a:solidFill>
                  <a:schemeClr val="bg1"/>
                </a:solidFill>
                <a:ea typeface="Calibri"/>
                <a:cs typeface="Calibri"/>
              </a:rPr>
              <a:t>  </a:t>
            </a:r>
            <a:r>
              <a:rPr lang="pt-BR" sz="3200">
                <a:solidFill>
                  <a:schemeClr val="bg1"/>
                </a:solidFill>
                <a:ea typeface="Calibri"/>
                <a:cs typeface="Calibri"/>
              </a:rPr>
              <a:t>interesse em programas de viajante confiável.</a:t>
            </a:r>
            <a:endParaRPr lang="pt-BR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EC6D8720-C51E-259B-762F-4A4125CB68F9}"/>
              </a:ext>
            </a:extLst>
          </p:cNvPr>
          <p:cNvSpPr txBox="1"/>
          <p:nvPr/>
        </p:nvSpPr>
        <p:spPr>
          <a:xfrm>
            <a:off x="-2361" y="6841243"/>
            <a:ext cx="2652877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pt-BR" sz="3600" spc="-57">
                <a:ea typeface="+mn-lt"/>
                <a:cs typeface="+mn-lt"/>
              </a:rPr>
              <a:t>Triagem</a:t>
            </a:r>
            <a:endParaRPr lang="pt-BR" sz="3600">
              <a:ea typeface="Calibri"/>
              <a:cs typeface="Calibri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99280241-B3DC-3DFD-BC9C-A81ADEBE327A}"/>
              </a:ext>
            </a:extLst>
          </p:cNvPr>
          <p:cNvSpPr txBox="1"/>
          <p:nvPr/>
        </p:nvSpPr>
        <p:spPr>
          <a:xfrm>
            <a:off x="14510276" y="2373152"/>
            <a:ext cx="3380239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pt-BR" sz="3600" spc="-57">
                <a:ea typeface="+mn-lt"/>
                <a:cs typeface="+mn-lt"/>
              </a:rPr>
              <a:t>Compra e seleção</a:t>
            </a:r>
            <a:endParaRPr lang="pt-BR"/>
          </a:p>
        </p:txBody>
      </p:sp>
      <p:sp>
        <p:nvSpPr>
          <p:cNvPr id="25" name="Seta: Dobrada 24">
            <a:extLst>
              <a:ext uri="{FF2B5EF4-FFF2-40B4-BE49-F238E27FC236}">
                <a16:creationId xmlns:a16="http://schemas.microsoft.com/office/drawing/2014/main" id="{90E38E51-320D-E58E-7930-6DC385DF7923}"/>
              </a:ext>
            </a:extLst>
          </p:cNvPr>
          <p:cNvSpPr/>
          <p:nvPr/>
        </p:nvSpPr>
        <p:spPr>
          <a:xfrm rot="10800000">
            <a:off x="15257317" y="3013363"/>
            <a:ext cx="1229590" cy="1783772"/>
          </a:xfrm>
          <a:prstGeom prst="bent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6" name="Seta: Dobrada 25">
            <a:extLst>
              <a:ext uri="{FF2B5EF4-FFF2-40B4-BE49-F238E27FC236}">
                <a16:creationId xmlns:a16="http://schemas.microsoft.com/office/drawing/2014/main" id="{A854C5FE-A3B3-744F-30E1-B686012799AD}"/>
              </a:ext>
            </a:extLst>
          </p:cNvPr>
          <p:cNvSpPr/>
          <p:nvPr/>
        </p:nvSpPr>
        <p:spPr>
          <a:xfrm>
            <a:off x="1835726" y="4693226"/>
            <a:ext cx="1229590" cy="1783772"/>
          </a:xfrm>
          <a:prstGeom prst="bent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333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AA4F8-36E6-A218-E24E-A292BE7EB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50F65237-C5E9-FD36-50DA-728CF5700BDC}"/>
              </a:ext>
            </a:extLst>
          </p:cNvPr>
          <p:cNvSpPr txBox="1"/>
          <p:nvPr/>
        </p:nvSpPr>
        <p:spPr>
          <a:xfrm>
            <a:off x="746869" y="761594"/>
            <a:ext cx="9916669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300"/>
              </a:lnSpc>
              <a:spcBef>
                <a:spcPct val="0"/>
              </a:spcBef>
            </a:pPr>
            <a:r>
              <a:rPr lang="en-US" sz="6000" b="1">
                <a:solidFill>
                  <a:srgbClr val="051D40"/>
                </a:solidFill>
                <a:latin typeface="Montserrat Bold"/>
                <a:sym typeface="Montserrat Bold"/>
              </a:rPr>
              <a:t>SOBRE O SISTEMA SKAI</a:t>
            </a:r>
            <a:endParaRPr lang="pt-BR" err="1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2E07832-AC78-A0BF-11C4-E6018B1503EB}"/>
              </a:ext>
            </a:extLst>
          </p:cNvPr>
          <p:cNvGrpSpPr/>
          <p:nvPr/>
        </p:nvGrpSpPr>
        <p:grpSpPr>
          <a:xfrm>
            <a:off x="-1595820" y="-1782102"/>
            <a:ext cx="3564204" cy="3564204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4954A7A-BB7D-1C43-B255-D188B102F7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08C0D45-87ED-139E-6C9C-56597559B45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42F9A4F-FF43-F1BB-9E23-8EDA6B2FEBC3}"/>
              </a:ext>
            </a:extLst>
          </p:cNvPr>
          <p:cNvGrpSpPr/>
          <p:nvPr/>
        </p:nvGrpSpPr>
        <p:grpSpPr>
          <a:xfrm>
            <a:off x="15122169" y="8541305"/>
            <a:ext cx="5946973" cy="5946973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961405B-894E-9414-A130-0DF9D724D66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chemeClr val="bg1"/>
            </a:solidFill>
            <a:ln w="95250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F646D3E-92F0-11E7-7AD6-B02C64C9ED1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m 31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C59B38BF-B5DB-3AF6-565B-807C28841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7308" t="34866" r="17308" b="35812"/>
          <a:stretch>
            <a:fillRect/>
          </a:stretch>
        </p:blipFill>
        <p:spPr>
          <a:xfrm>
            <a:off x="410898" y="8902089"/>
            <a:ext cx="2282524" cy="1026805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1CF4E787-8B31-07AE-E93C-FFA5ABEF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416463" y="942147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7</a:t>
            </a:fld>
            <a:endParaRPr lang="pt-BR" sz="3600">
              <a:solidFill>
                <a:schemeClr val="tx1"/>
              </a:solidFill>
            </a:endParaRPr>
          </a:p>
        </p:txBody>
      </p:sp>
      <p:pic>
        <p:nvPicPr>
          <p:cNvPr id="3" name="Imagem 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23255977-2A4C-06FD-ECA1-5454F37A84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633061" y="-149573"/>
            <a:ext cx="2894721" cy="2992514"/>
          </a:xfrm>
          <a:prstGeom prst="rect">
            <a:avLst/>
          </a:prstGeom>
        </p:spPr>
      </p:pic>
      <p:sp>
        <p:nvSpPr>
          <p:cNvPr id="27" name="Freeform 10">
            <a:extLst>
              <a:ext uri="{FF2B5EF4-FFF2-40B4-BE49-F238E27FC236}">
                <a16:creationId xmlns:a16="http://schemas.microsoft.com/office/drawing/2014/main" id="{D8B0C3B9-FD3C-EB9F-ED29-64FD9C0DAAB8}"/>
              </a:ext>
            </a:extLst>
          </p:cNvPr>
          <p:cNvSpPr/>
          <p:nvPr/>
        </p:nvSpPr>
        <p:spPr>
          <a:xfrm>
            <a:off x="2261391" y="3352393"/>
            <a:ext cx="3985927" cy="398436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AD40BE6-9E7F-C53E-270C-99E8E1E8E6AD}"/>
              </a:ext>
            </a:extLst>
          </p:cNvPr>
          <p:cNvSpPr txBox="1"/>
          <p:nvPr/>
        </p:nvSpPr>
        <p:spPr>
          <a:xfrm>
            <a:off x="2878585" y="4559794"/>
            <a:ext cx="27432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latin typeface="Poppins"/>
              </a:rPr>
              <a:t>Busca </a:t>
            </a:r>
            <a:r>
              <a:rPr lang="en-US" sz="3200" b="1" err="1">
                <a:solidFill>
                  <a:schemeClr val="bg1"/>
                </a:solidFill>
                <a:latin typeface="Poppins"/>
              </a:rPr>
              <a:t>otimizada</a:t>
            </a:r>
            <a:r>
              <a:rPr lang="en-US" sz="3200" b="1">
                <a:solidFill>
                  <a:schemeClr val="bg1"/>
                </a:solidFill>
                <a:latin typeface="Poppins"/>
              </a:rPr>
              <a:t> </a:t>
            </a:r>
            <a:r>
              <a:rPr lang="en-US" sz="3200" b="1" err="1">
                <a:solidFill>
                  <a:schemeClr val="bg1"/>
                </a:solidFill>
                <a:latin typeface="Poppins"/>
              </a:rPr>
              <a:t>por</a:t>
            </a:r>
            <a:r>
              <a:rPr lang="en-US" sz="3200" b="1">
                <a:solidFill>
                  <a:schemeClr val="bg1"/>
                </a:solidFill>
                <a:latin typeface="Poppins"/>
              </a:rPr>
              <a:t> IA</a:t>
            </a:r>
            <a:endParaRPr lang="en-US" sz="3200">
              <a:solidFill>
                <a:schemeClr val="bg1"/>
              </a:solidFill>
              <a:latin typeface="Poppins"/>
              <a:cs typeface="Poppins"/>
            </a:endParaRPr>
          </a:p>
        </p:txBody>
      </p:sp>
      <p:sp>
        <p:nvSpPr>
          <p:cNvPr id="31" name="Freeform 10">
            <a:extLst>
              <a:ext uri="{FF2B5EF4-FFF2-40B4-BE49-F238E27FC236}">
                <a16:creationId xmlns:a16="http://schemas.microsoft.com/office/drawing/2014/main" id="{72E0B320-0BBC-5A29-4382-049B93877C9A}"/>
              </a:ext>
            </a:extLst>
          </p:cNvPr>
          <p:cNvSpPr/>
          <p:nvPr/>
        </p:nvSpPr>
        <p:spPr>
          <a:xfrm>
            <a:off x="7232886" y="3441170"/>
            <a:ext cx="3985927" cy="398436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67810C8-A9B6-71FB-B83D-A7BD34E666F2}"/>
              </a:ext>
            </a:extLst>
          </p:cNvPr>
          <p:cNvSpPr txBox="1"/>
          <p:nvPr/>
        </p:nvSpPr>
        <p:spPr>
          <a:xfrm>
            <a:off x="7318545" y="4582310"/>
            <a:ext cx="366265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err="1">
                <a:solidFill>
                  <a:schemeClr val="bg1"/>
                </a:solidFill>
                <a:latin typeface="Poppins"/>
              </a:rPr>
              <a:t>Assistente</a:t>
            </a:r>
            <a:r>
              <a:rPr lang="en-US" sz="3200" b="1">
                <a:solidFill>
                  <a:schemeClr val="bg1"/>
                </a:solidFill>
                <a:latin typeface="Poppins"/>
              </a:rPr>
              <a:t> </a:t>
            </a:r>
            <a:r>
              <a:rPr lang="en-US" sz="3200" b="1" err="1">
                <a:solidFill>
                  <a:schemeClr val="bg1"/>
                </a:solidFill>
                <a:latin typeface="Poppins"/>
              </a:rPr>
              <a:t>conversacional</a:t>
            </a:r>
            <a:r>
              <a:rPr lang="en-US" sz="3200" b="1">
                <a:solidFill>
                  <a:schemeClr val="bg1"/>
                </a:solidFill>
                <a:latin typeface="Poppins"/>
              </a:rPr>
              <a:t> </a:t>
            </a:r>
            <a:r>
              <a:rPr lang="en-US" sz="3200" b="1" err="1">
                <a:solidFill>
                  <a:schemeClr val="bg1"/>
                </a:solidFill>
                <a:latin typeface="Poppins"/>
              </a:rPr>
              <a:t>inteligente</a:t>
            </a:r>
            <a:endParaRPr lang="pt-BR" sz="32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AC87B801-29F2-1776-4681-2CDB1A2C901E}"/>
              </a:ext>
            </a:extLst>
          </p:cNvPr>
          <p:cNvSpPr/>
          <p:nvPr/>
        </p:nvSpPr>
        <p:spPr>
          <a:xfrm>
            <a:off x="12071216" y="3363490"/>
            <a:ext cx="3985927" cy="398436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E74FE0E-BBD5-8E8E-ABD3-0E9D95402E98}"/>
              </a:ext>
            </a:extLst>
          </p:cNvPr>
          <p:cNvSpPr txBox="1"/>
          <p:nvPr/>
        </p:nvSpPr>
        <p:spPr>
          <a:xfrm>
            <a:off x="12388789" y="4815027"/>
            <a:ext cx="333134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err="1">
                <a:solidFill>
                  <a:schemeClr val="bg1"/>
                </a:solidFill>
                <a:latin typeface="Poppins"/>
              </a:rPr>
              <a:t>Compra</a:t>
            </a:r>
            <a:r>
              <a:rPr lang="en-US" sz="3200" b="1">
                <a:solidFill>
                  <a:schemeClr val="bg1"/>
                </a:solidFill>
                <a:latin typeface="Poppins"/>
              </a:rPr>
              <a:t> </a:t>
            </a:r>
            <a:r>
              <a:rPr lang="en-US" sz="3200" b="1" err="1">
                <a:solidFill>
                  <a:schemeClr val="bg1"/>
                </a:solidFill>
                <a:latin typeface="Poppins"/>
              </a:rPr>
              <a:t>rápida</a:t>
            </a:r>
            <a:endParaRPr lang="pt-BR" sz="3200" err="1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7991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4661" y="280191"/>
            <a:ext cx="19214101" cy="14211124"/>
            <a:chOff x="-397796" y="-1234538"/>
            <a:chExt cx="5380376" cy="3979431"/>
          </a:xfrm>
        </p:grpSpPr>
        <p:sp>
          <p:nvSpPr>
            <p:cNvPr id="3" name="Freeform 3"/>
            <p:cNvSpPr/>
            <p:nvPr/>
          </p:nvSpPr>
          <p:spPr>
            <a:xfrm>
              <a:off x="-397796" y="-1234538"/>
              <a:ext cx="4982580" cy="2744893"/>
            </a:xfrm>
            <a:custGeom>
              <a:avLst/>
              <a:gdLst/>
              <a:ahLst/>
              <a:cxnLst/>
              <a:rect l="l" t="t" r="r" b="b"/>
              <a:pathLst>
                <a:path w="4982580" h="2744893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75654" y="5171787"/>
            <a:ext cx="3519377" cy="561420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108558" y="5079805"/>
            <a:ext cx="404654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391011" y="9086775"/>
            <a:ext cx="415437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4932193" y="916118"/>
            <a:ext cx="8704350" cy="758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8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</a:rPr>
              <a:t>BENEFÍCIOS DO SISTEMA</a:t>
            </a:r>
          </a:p>
        </p:txBody>
      </p:sp>
      <p:pic>
        <p:nvPicPr>
          <p:cNvPr id="46" name="Imagem 45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351F9912-C1D9-4D8E-31F8-9BE4CE2F4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7308" t="34866" r="17308" b="35812"/>
          <a:stretch>
            <a:fillRect/>
          </a:stretch>
        </p:blipFill>
        <p:spPr>
          <a:xfrm>
            <a:off x="15625947" y="539592"/>
            <a:ext cx="1975369" cy="870174"/>
          </a:xfrm>
          <a:prstGeom prst="rect">
            <a:avLst/>
          </a:prstGeom>
        </p:spPr>
      </p:pic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C5E828BF-02D9-F885-233A-989F9161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53238" y="943365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8</a:t>
            </a:fld>
            <a:endParaRPr lang="pt-BR" sz="3600">
              <a:solidFill>
                <a:schemeClr val="tx1"/>
              </a:solidFill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962F046A-3364-4869-250B-F26EE3329393}"/>
              </a:ext>
            </a:extLst>
          </p:cNvPr>
          <p:cNvGrpSpPr/>
          <p:nvPr/>
        </p:nvGrpSpPr>
        <p:grpSpPr>
          <a:xfrm>
            <a:off x="865252" y="1906208"/>
            <a:ext cx="3538422" cy="3281339"/>
            <a:chOff x="2272544" y="2428255"/>
            <a:chExt cx="1416547" cy="2051307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98A8626F-B2BC-A50D-4BC3-D49F24F4156E}"/>
                </a:ext>
              </a:extLst>
            </p:cNvPr>
            <p:cNvSpPr/>
            <p:nvPr/>
          </p:nvSpPr>
          <p:spPr>
            <a:xfrm>
              <a:off x="2272544" y="2466355"/>
              <a:ext cx="1416547" cy="2013207"/>
            </a:xfrm>
            <a:custGeom>
              <a:avLst/>
              <a:gdLst/>
              <a:ahLst/>
              <a:cxnLst/>
              <a:rect l="l" t="t" r="r" b="b"/>
              <a:pathLst>
                <a:path w="1416547" h="2013207">
                  <a:moveTo>
                    <a:pt x="46046" y="0"/>
                  </a:moveTo>
                  <a:lnTo>
                    <a:pt x="1370502" y="0"/>
                  </a:lnTo>
                  <a:cubicBezTo>
                    <a:pt x="1382714" y="0"/>
                    <a:pt x="1394426" y="4851"/>
                    <a:pt x="1403061" y="13487"/>
                  </a:cubicBezTo>
                  <a:cubicBezTo>
                    <a:pt x="1411696" y="22122"/>
                    <a:pt x="1416547" y="33834"/>
                    <a:pt x="1416547" y="46046"/>
                  </a:cubicBezTo>
                  <a:lnTo>
                    <a:pt x="1416547" y="1967161"/>
                  </a:lnTo>
                  <a:cubicBezTo>
                    <a:pt x="1416547" y="1979373"/>
                    <a:pt x="1411696" y="1991085"/>
                    <a:pt x="1403061" y="1999720"/>
                  </a:cubicBezTo>
                  <a:cubicBezTo>
                    <a:pt x="1394426" y="2008356"/>
                    <a:pt x="1382714" y="2013207"/>
                    <a:pt x="1370502" y="2013207"/>
                  </a:cubicBezTo>
                  <a:lnTo>
                    <a:pt x="46046" y="2013207"/>
                  </a:lnTo>
                  <a:cubicBezTo>
                    <a:pt x="33834" y="2013207"/>
                    <a:pt x="22122" y="2008356"/>
                    <a:pt x="13487" y="1999720"/>
                  </a:cubicBezTo>
                  <a:cubicBezTo>
                    <a:pt x="4851" y="1991085"/>
                    <a:pt x="0" y="1979373"/>
                    <a:pt x="0" y="1967161"/>
                  </a:cubicBezTo>
                  <a:lnTo>
                    <a:pt x="0" y="46046"/>
                  </a:lnTo>
                  <a:cubicBezTo>
                    <a:pt x="0" y="33834"/>
                    <a:pt x="4851" y="22122"/>
                    <a:pt x="13487" y="13487"/>
                  </a:cubicBezTo>
                  <a:cubicBezTo>
                    <a:pt x="22122" y="4851"/>
                    <a:pt x="33834" y="0"/>
                    <a:pt x="46046" y="0"/>
                  </a:cubicBezTo>
                  <a:close/>
                </a:path>
              </a:pathLst>
            </a:custGeom>
            <a:solidFill>
              <a:srgbClr val="FDFDFD"/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8">
              <a:extLst>
                <a:ext uri="{FF2B5EF4-FFF2-40B4-BE49-F238E27FC236}">
                  <a16:creationId xmlns:a16="http://schemas.microsoft.com/office/drawing/2014/main" id="{AA0E1A9D-32FB-5AAE-DA86-3FB0AE08B19D}"/>
                </a:ext>
              </a:extLst>
            </p:cNvPr>
            <p:cNvSpPr txBox="1"/>
            <p:nvPr/>
          </p:nvSpPr>
          <p:spPr>
            <a:xfrm>
              <a:off x="2272544" y="2428255"/>
              <a:ext cx="1416547" cy="2051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1" name="Imagem 50" descr="Logotipo&#10;&#10;O conteúdo gerado por IA pode estar incorreto.">
            <a:extLst>
              <a:ext uri="{FF2B5EF4-FFF2-40B4-BE49-F238E27FC236}">
                <a16:creationId xmlns:a16="http://schemas.microsoft.com/office/drawing/2014/main" id="{CE5F9B72-AA5C-9ECA-9950-D2EF70094F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5852" y="1386627"/>
            <a:ext cx="3958389" cy="3797969"/>
          </a:xfrm>
          <a:prstGeom prst="rect">
            <a:avLst/>
          </a:prstGeom>
        </p:spPr>
      </p:pic>
      <p:sp>
        <p:nvSpPr>
          <p:cNvPr id="27" name="Freeform 7">
            <a:extLst>
              <a:ext uri="{FF2B5EF4-FFF2-40B4-BE49-F238E27FC236}">
                <a16:creationId xmlns:a16="http://schemas.microsoft.com/office/drawing/2014/main" id="{E9887608-080D-D915-9FD5-D1E2CC89B5CE}"/>
              </a:ext>
            </a:extLst>
          </p:cNvPr>
          <p:cNvSpPr/>
          <p:nvPr/>
        </p:nvSpPr>
        <p:spPr>
          <a:xfrm>
            <a:off x="3590480" y="5985421"/>
            <a:ext cx="3538422" cy="3220393"/>
          </a:xfrm>
          <a:custGeom>
            <a:avLst/>
            <a:gdLst/>
            <a:ahLst/>
            <a:cxnLst/>
            <a:rect l="l" t="t" r="r" b="b"/>
            <a:pathLst>
              <a:path w="1416547" h="2013207">
                <a:moveTo>
                  <a:pt x="46046" y="0"/>
                </a:moveTo>
                <a:lnTo>
                  <a:pt x="1370502" y="0"/>
                </a:lnTo>
                <a:cubicBezTo>
                  <a:pt x="1382714" y="0"/>
                  <a:pt x="1394426" y="4851"/>
                  <a:pt x="1403061" y="13487"/>
                </a:cubicBezTo>
                <a:cubicBezTo>
                  <a:pt x="1411696" y="22122"/>
                  <a:pt x="1416547" y="33834"/>
                  <a:pt x="1416547" y="46046"/>
                </a:cubicBezTo>
                <a:lnTo>
                  <a:pt x="1416547" y="1967161"/>
                </a:lnTo>
                <a:cubicBezTo>
                  <a:pt x="1416547" y="1979373"/>
                  <a:pt x="1411696" y="1991085"/>
                  <a:pt x="1403061" y="1999720"/>
                </a:cubicBezTo>
                <a:cubicBezTo>
                  <a:pt x="1394426" y="2008356"/>
                  <a:pt x="1382714" y="2013207"/>
                  <a:pt x="1370502" y="2013207"/>
                </a:cubicBezTo>
                <a:lnTo>
                  <a:pt x="46046" y="2013207"/>
                </a:lnTo>
                <a:cubicBezTo>
                  <a:pt x="33834" y="2013207"/>
                  <a:pt x="22122" y="2008356"/>
                  <a:pt x="13487" y="1999720"/>
                </a:cubicBezTo>
                <a:cubicBezTo>
                  <a:pt x="4851" y="1991085"/>
                  <a:pt x="0" y="1979373"/>
                  <a:pt x="0" y="1967161"/>
                </a:cubicBezTo>
                <a:lnTo>
                  <a:pt x="0" y="46046"/>
                </a:lnTo>
                <a:cubicBezTo>
                  <a:pt x="0" y="33834"/>
                  <a:pt x="4851" y="22122"/>
                  <a:pt x="13487" y="13487"/>
                </a:cubicBezTo>
                <a:cubicBezTo>
                  <a:pt x="22122" y="4851"/>
                  <a:pt x="33834" y="0"/>
                  <a:pt x="46046" y="0"/>
                </a:cubicBezTo>
                <a:close/>
              </a:path>
            </a:pathLst>
          </a:custGeom>
          <a:solidFill>
            <a:srgbClr val="FDFDFD"/>
          </a:solidFill>
          <a:ln w="38100" cap="rnd">
            <a:solidFill>
              <a:srgbClr val="145DA0"/>
            </a:solidFill>
            <a:prstDash val="solid"/>
            <a:round/>
          </a:ln>
        </p:spPr>
        <p:txBody>
          <a:bodyPr/>
          <a:lstStyle/>
          <a:p>
            <a:endParaRPr lang="pt-BR"/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5FF17550-3957-8F70-B371-5932332CA310}"/>
              </a:ext>
            </a:extLst>
          </p:cNvPr>
          <p:cNvSpPr/>
          <p:nvPr/>
        </p:nvSpPr>
        <p:spPr>
          <a:xfrm>
            <a:off x="7367310" y="1870621"/>
            <a:ext cx="3538422" cy="3220393"/>
          </a:xfrm>
          <a:custGeom>
            <a:avLst/>
            <a:gdLst/>
            <a:ahLst/>
            <a:cxnLst/>
            <a:rect l="l" t="t" r="r" b="b"/>
            <a:pathLst>
              <a:path w="1416547" h="2013207">
                <a:moveTo>
                  <a:pt x="46046" y="0"/>
                </a:moveTo>
                <a:lnTo>
                  <a:pt x="1370502" y="0"/>
                </a:lnTo>
                <a:cubicBezTo>
                  <a:pt x="1382714" y="0"/>
                  <a:pt x="1394426" y="4851"/>
                  <a:pt x="1403061" y="13487"/>
                </a:cubicBezTo>
                <a:cubicBezTo>
                  <a:pt x="1411696" y="22122"/>
                  <a:pt x="1416547" y="33834"/>
                  <a:pt x="1416547" y="46046"/>
                </a:cubicBezTo>
                <a:lnTo>
                  <a:pt x="1416547" y="1967161"/>
                </a:lnTo>
                <a:cubicBezTo>
                  <a:pt x="1416547" y="1979373"/>
                  <a:pt x="1411696" y="1991085"/>
                  <a:pt x="1403061" y="1999720"/>
                </a:cubicBezTo>
                <a:cubicBezTo>
                  <a:pt x="1394426" y="2008356"/>
                  <a:pt x="1382714" y="2013207"/>
                  <a:pt x="1370502" y="2013207"/>
                </a:cubicBezTo>
                <a:lnTo>
                  <a:pt x="46046" y="2013207"/>
                </a:lnTo>
                <a:cubicBezTo>
                  <a:pt x="33834" y="2013207"/>
                  <a:pt x="22122" y="2008356"/>
                  <a:pt x="13487" y="1999720"/>
                </a:cubicBezTo>
                <a:cubicBezTo>
                  <a:pt x="4851" y="1991085"/>
                  <a:pt x="0" y="1979373"/>
                  <a:pt x="0" y="1967161"/>
                </a:cubicBezTo>
                <a:lnTo>
                  <a:pt x="0" y="46046"/>
                </a:lnTo>
                <a:cubicBezTo>
                  <a:pt x="0" y="33834"/>
                  <a:pt x="4851" y="22122"/>
                  <a:pt x="13487" y="13487"/>
                </a:cubicBezTo>
                <a:cubicBezTo>
                  <a:pt x="22122" y="4851"/>
                  <a:pt x="33834" y="0"/>
                  <a:pt x="46046" y="0"/>
                </a:cubicBezTo>
                <a:close/>
              </a:path>
            </a:pathLst>
          </a:custGeom>
          <a:solidFill>
            <a:srgbClr val="FDFDFD"/>
          </a:solidFill>
          <a:ln w="38100" cap="rnd">
            <a:solidFill>
              <a:srgbClr val="145DA0"/>
            </a:solidFill>
            <a:prstDash val="solid"/>
            <a:round/>
          </a:ln>
        </p:spPr>
        <p:txBody>
          <a:bodyPr/>
          <a:lstStyle/>
          <a:p>
            <a:endParaRPr lang="pt-BR"/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3A7B2654-612A-E08C-4D66-0186655EBFA6}"/>
              </a:ext>
            </a:extLst>
          </p:cNvPr>
          <p:cNvSpPr/>
          <p:nvPr/>
        </p:nvSpPr>
        <p:spPr>
          <a:xfrm>
            <a:off x="10918004" y="5861262"/>
            <a:ext cx="3538422" cy="3220393"/>
          </a:xfrm>
          <a:custGeom>
            <a:avLst/>
            <a:gdLst/>
            <a:ahLst/>
            <a:cxnLst/>
            <a:rect l="l" t="t" r="r" b="b"/>
            <a:pathLst>
              <a:path w="1416547" h="2013207">
                <a:moveTo>
                  <a:pt x="46046" y="0"/>
                </a:moveTo>
                <a:lnTo>
                  <a:pt x="1370502" y="0"/>
                </a:lnTo>
                <a:cubicBezTo>
                  <a:pt x="1382714" y="0"/>
                  <a:pt x="1394426" y="4851"/>
                  <a:pt x="1403061" y="13487"/>
                </a:cubicBezTo>
                <a:cubicBezTo>
                  <a:pt x="1411696" y="22122"/>
                  <a:pt x="1416547" y="33834"/>
                  <a:pt x="1416547" y="46046"/>
                </a:cubicBezTo>
                <a:lnTo>
                  <a:pt x="1416547" y="1967161"/>
                </a:lnTo>
                <a:cubicBezTo>
                  <a:pt x="1416547" y="1979373"/>
                  <a:pt x="1411696" y="1991085"/>
                  <a:pt x="1403061" y="1999720"/>
                </a:cubicBezTo>
                <a:cubicBezTo>
                  <a:pt x="1394426" y="2008356"/>
                  <a:pt x="1382714" y="2013207"/>
                  <a:pt x="1370502" y="2013207"/>
                </a:cubicBezTo>
                <a:lnTo>
                  <a:pt x="46046" y="2013207"/>
                </a:lnTo>
                <a:cubicBezTo>
                  <a:pt x="33834" y="2013207"/>
                  <a:pt x="22122" y="2008356"/>
                  <a:pt x="13487" y="1999720"/>
                </a:cubicBezTo>
                <a:cubicBezTo>
                  <a:pt x="4851" y="1991085"/>
                  <a:pt x="0" y="1979373"/>
                  <a:pt x="0" y="1967161"/>
                </a:cubicBezTo>
                <a:lnTo>
                  <a:pt x="0" y="46046"/>
                </a:lnTo>
                <a:cubicBezTo>
                  <a:pt x="0" y="33834"/>
                  <a:pt x="4851" y="22122"/>
                  <a:pt x="13487" y="13487"/>
                </a:cubicBezTo>
                <a:cubicBezTo>
                  <a:pt x="22122" y="4851"/>
                  <a:pt x="33834" y="0"/>
                  <a:pt x="46046" y="0"/>
                </a:cubicBezTo>
                <a:close/>
              </a:path>
            </a:pathLst>
          </a:custGeom>
          <a:solidFill>
            <a:srgbClr val="FDFDFD"/>
          </a:solidFill>
          <a:ln w="38100" cap="rnd">
            <a:solidFill>
              <a:srgbClr val="145DA0"/>
            </a:solidFill>
            <a:prstDash val="solid"/>
            <a:round/>
          </a:ln>
        </p:spPr>
        <p:txBody>
          <a:bodyPr/>
          <a:lstStyle/>
          <a:p>
            <a:endParaRPr lang="pt-BR"/>
          </a:p>
        </p:txBody>
      </p:sp>
      <p:sp>
        <p:nvSpPr>
          <p:cNvPr id="32" name="Freeform 11">
            <a:extLst>
              <a:ext uri="{FF2B5EF4-FFF2-40B4-BE49-F238E27FC236}">
                <a16:creationId xmlns:a16="http://schemas.microsoft.com/office/drawing/2014/main" id="{AA86B565-F1DC-7A17-9C05-E08F03A3CF57}"/>
              </a:ext>
            </a:extLst>
          </p:cNvPr>
          <p:cNvSpPr/>
          <p:nvPr/>
        </p:nvSpPr>
        <p:spPr>
          <a:xfrm>
            <a:off x="10659252" y="9070446"/>
            <a:ext cx="404654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3582464" y="7162731"/>
            <a:ext cx="3490991" cy="877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32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Resultados</a:t>
            </a:r>
            <a:r>
              <a:rPr lang="en-US" sz="3200" b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 </a:t>
            </a:r>
            <a:r>
              <a:rPr lang="en-US" sz="32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personalizados</a:t>
            </a:r>
            <a:endParaRPr lang="en-US" sz="3200" b="1" err="1">
              <a:solidFill>
                <a:srgbClr val="145DA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572292" y="2799354"/>
            <a:ext cx="3124368" cy="1342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36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Atendimento</a:t>
            </a:r>
            <a:r>
              <a:rPr lang="en-US" sz="3600" b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 </a:t>
            </a:r>
            <a:r>
              <a:rPr lang="en-US" sz="36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rápido</a:t>
            </a:r>
            <a:r>
              <a:rPr lang="en-US" sz="3600" b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 </a:t>
            </a:r>
          </a:p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3600" b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e </a:t>
            </a:r>
            <a:r>
              <a:rPr lang="en-US" sz="36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intuitivo</a:t>
            </a:r>
            <a:endParaRPr lang="en-US" sz="3600" b="1">
              <a:solidFill>
                <a:srgbClr val="145DA0"/>
              </a:solidFill>
              <a:latin typeface="Poppins Bold"/>
              <a:ea typeface="Poppins Bold"/>
              <a:cs typeface="Poppins Bold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7EB5E6-E358-959C-D034-75FD1B6FD591}"/>
              </a:ext>
            </a:extLst>
          </p:cNvPr>
          <p:cNvSpPr txBox="1"/>
          <p:nvPr/>
        </p:nvSpPr>
        <p:spPr>
          <a:xfrm>
            <a:off x="10909987" y="6715081"/>
            <a:ext cx="3490991" cy="1328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36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Agilidade</a:t>
            </a:r>
            <a:r>
              <a:rPr lang="en-US" sz="3600" b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 </a:t>
            </a:r>
            <a:r>
              <a:rPr lang="en-US" sz="36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na</a:t>
            </a:r>
            <a:r>
              <a:rPr lang="en-US" sz="3600" b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 </a:t>
            </a:r>
            <a:r>
              <a:rPr lang="en-US" sz="36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escolha</a:t>
            </a:r>
            <a:r>
              <a:rPr lang="en-US" sz="3600" b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 de </a:t>
            </a:r>
            <a:r>
              <a:rPr lang="en-US" sz="3600" b="1" err="1">
                <a:solidFill>
                  <a:srgbClr val="145DA0"/>
                </a:solidFill>
                <a:latin typeface="Poppins Bold"/>
                <a:ea typeface="Poppins Bold"/>
                <a:cs typeface="Poppins Bold"/>
              </a:rPr>
              <a:t>passagem</a:t>
            </a:r>
            <a:endParaRPr lang="en-US" sz="3600" b="1" err="1">
              <a:solidFill>
                <a:srgbClr val="145DA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E225EC7-E660-3E85-C271-85D34EE3B995}"/>
              </a:ext>
            </a:extLst>
          </p:cNvPr>
          <p:cNvSpPr/>
          <p:nvPr/>
        </p:nvSpPr>
        <p:spPr>
          <a:xfrm>
            <a:off x="13628547" y="1828105"/>
            <a:ext cx="3538422" cy="3220393"/>
          </a:xfrm>
          <a:custGeom>
            <a:avLst/>
            <a:gdLst/>
            <a:ahLst/>
            <a:cxnLst/>
            <a:rect l="l" t="t" r="r" b="b"/>
            <a:pathLst>
              <a:path w="1416547" h="2013207">
                <a:moveTo>
                  <a:pt x="46046" y="0"/>
                </a:moveTo>
                <a:lnTo>
                  <a:pt x="1370502" y="0"/>
                </a:lnTo>
                <a:cubicBezTo>
                  <a:pt x="1382714" y="0"/>
                  <a:pt x="1394426" y="4851"/>
                  <a:pt x="1403061" y="13487"/>
                </a:cubicBezTo>
                <a:cubicBezTo>
                  <a:pt x="1411696" y="22122"/>
                  <a:pt x="1416547" y="33834"/>
                  <a:pt x="1416547" y="46046"/>
                </a:cubicBezTo>
                <a:lnTo>
                  <a:pt x="1416547" y="1967161"/>
                </a:lnTo>
                <a:cubicBezTo>
                  <a:pt x="1416547" y="1979373"/>
                  <a:pt x="1411696" y="1991085"/>
                  <a:pt x="1403061" y="1999720"/>
                </a:cubicBezTo>
                <a:cubicBezTo>
                  <a:pt x="1394426" y="2008356"/>
                  <a:pt x="1382714" y="2013207"/>
                  <a:pt x="1370502" y="2013207"/>
                </a:cubicBezTo>
                <a:lnTo>
                  <a:pt x="46046" y="2013207"/>
                </a:lnTo>
                <a:cubicBezTo>
                  <a:pt x="33834" y="2013207"/>
                  <a:pt x="22122" y="2008356"/>
                  <a:pt x="13487" y="1999720"/>
                </a:cubicBezTo>
                <a:cubicBezTo>
                  <a:pt x="4851" y="1991085"/>
                  <a:pt x="0" y="1979373"/>
                  <a:pt x="0" y="1967161"/>
                </a:cubicBezTo>
                <a:lnTo>
                  <a:pt x="0" y="46046"/>
                </a:lnTo>
                <a:cubicBezTo>
                  <a:pt x="0" y="33834"/>
                  <a:pt x="4851" y="22122"/>
                  <a:pt x="13487" y="13487"/>
                </a:cubicBezTo>
                <a:cubicBezTo>
                  <a:pt x="22122" y="4851"/>
                  <a:pt x="33834" y="0"/>
                  <a:pt x="46046" y="0"/>
                </a:cubicBezTo>
                <a:close/>
              </a:path>
            </a:pathLst>
          </a:custGeom>
          <a:solidFill>
            <a:srgbClr val="FDFDFD"/>
          </a:solidFill>
          <a:ln w="38100" cap="rnd">
            <a:solidFill>
              <a:srgbClr val="145DA0"/>
            </a:solidFill>
            <a:prstDash val="solid"/>
            <a:round/>
          </a:ln>
        </p:spPr>
        <p:txBody>
          <a:bodyPr/>
          <a:lstStyle/>
          <a:p>
            <a:endParaRPr lang="pt-BR"/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6145053F-39F9-8FE8-658B-FF8F7D8BC41C}"/>
              </a:ext>
            </a:extLst>
          </p:cNvPr>
          <p:cNvSpPr/>
          <p:nvPr/>
        </p:nvSpPr>
        <p:spPr>
          <a:xfrm>
            <a:off x="13369795" y="5037290"/>
            <a:ext cx="404654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sp>
        <p:nvSpPr>
          <p:cNvPr id="9" name="TextBox 33">
            <a:extLst>
              <a:ext uri="{FF2B5EF4-FFF2-40B4-BE49-F238E27FC236}">
                <a16:creationId xmlns:a16="http://schemas.microsoft.com/office/drawing/2014/main" id="{498E7EB3-16F4-2616-534C-CDAD7EEA9DC7}"/>
              </a:ext>
            </a:extLst>
          </p:cNvPr>
          <p:cNvSpPr txBox="1"/>
          <p:nvPr/>
        </p:nvSpPr>
        <p:spPr>
          <a:xfrm>
            <a:off x="13620530" y="2845210"/>
            <a:ext cx="3490991" cy="892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3600" b="1">
                <a:solidFill>
                  <a:srgbClr val="145DA0"/>
                </a:solidFill>
                <a:latin typeface="Poppins Bold"/>
                <a:ea typeface="+mn-lt"/>
                <a:cs typeface="Poppins Bold"/>
              </a:rPr>
              <a:t>Escalável e </a:t>
            </a:r>
            <a:r>
              <a:rPr lang="en-US" sz="3600" b="1" err="1">
                <a:solidFill>
                  <a:srgbClr val="145DA0"/>
                </a:solidFill>
                <a:latin typeface="Poppins Bold"/>
                <a:ea typeface="+mn-lt"/>
                <a:cs typeface="Poppins Bold"/>
              </a:rPr>
              <a:t>evolutivo</a:t>
            </a:r>
            <a:endParaRPr lang="en-US" sz="3600" b="1" err="1">
              <a:solidFill>
                <a:srgbClr val="145DA0"/>
              </a:solidFill>
              <a:latin typeface="Poppins Bold"/>
              <a:cs typeface="Poppins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10">
            <a:extLst>
              <a:ext uri="{FF2B5EF4-FFF2-40B4-BE49-F238E27FC236}">
                <a16:creationId xmlns:a16="http://schemas.microsoft.com/office/drawing/2014/main" id="{FFB50320-929F-095F-B8BD-5361B240DD7E}"/>
              </a:ext>
            </a:extLst>
          </p:cNvPr>
          <p:cNvSpPr/>
          <p:nvPr/>
        </p:nvSpPr>
        <p:spPr>
          <a:xfrm>
            <a:off x="13721122" y="3185098"/>
            <a:ext cx="3985927" cy="398436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5C7D1668-2F13-4378-0F64-14FD954A48CE}"/>
              </a:ext>
            </a:extLst>
          </p:cNvPr>
          <p:cNvSpPr/>
          <p:nvPr/>
        </p:nvSpPr>
        <p:spPr>
          <a:xfrm>
            <a:off x="9407915" y="489344"/>
            <a:ext cx="3985927" cy="398436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C174177A-2CCB-0D38-33E4-B243885D32EC}"/>
              </a:ext>
            </a:extLst>
          </p:cNvPr>
          <p:cNvSpPr/>
          <p:nvPr/>
        </p:nvSpPr>
        <p:spPr>
          <a:xfrm>
            <a:off x="9580444" y="5535797"/>
            <a:ext cx="3985927" cy="398436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F7F4315-CB5E-6A29-F199-D35794E5C7DB}"/>
              </a:ext>
            </a:extLst>
          </p:cNvPr>
          <p:cNvSpPr/>
          <p:nvPr/>
        </p:nvSpPr>
        <p:spPr>
          <a:xfrm>
            <a:off x="5396634" y="3875213"/>
            <a:ext cx="3985927" cy="398436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" name="Group 2"/>
          <p:cNvGrpSpPr/>
          <p:nvPr/>
        </p:nvGrpSpPr>
        <p:grpSpPr>
          <a:xfrm>
            <a:off x="-5815208" y="-10619429"/>
            <a:ext cx="15178802" cy="151788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123634" y="-9776895"/>
            <a:ext cx="13881919" cy="1388191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03697" y="662960"/>
            <a:ext cx="6033363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53"/>
              </a:lnSpc>
              <a:spcBef>
                <a:spcPct val="0"/>
              </a:spcBef>
            </a:pPr>
            <a:r>
              <a:rPr lang="en-US" sz="6000" b="1" err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</a:rPr>
              <a:t>Requisitos</a:t>
            </a:r>
            <a:r>
              <a:rPr lang="en-US" sz="6000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</a:rPr>
              <a:t> </a:t>
            </a:r>
            <a:r>
              <a:rPr lang="en-US" sz="6000" b="1" err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</a:rPr>
              <a:t>funcionais</a:t>
            </a:r>
          </a:p>
        </p:txBody>
      </p:sp>
      <p:sp>
        <p:nvSpPr>
          <p:cNvPr id="10" name="Freeform 10"/>
          <p:cNvSpPr/>
          <p:nvPr/>
        </p:nvSpPr>
        <p:spPr>
          <a:xfrm>
            <a:off x="522709" y="5126042"/>
            <a:ext cx="3985927" cy="398436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832791" y="6321872"/>
            <a:ext cx="3359372" cy="19697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3200" spc="-35">
                <a:solidFill>
                  <a:schemeClr val="bg1"/>
                </a:solidFill>
                <a:latin typeface="Arial"/>
                <a:ea typeface="Poppins"/>
                <a:cs typeface="Arial"/>
                <a:sym typeface="Poppins"/>
              </a:rPr>
              <a:t>Permitir pesquisa de voos por origem, destino, datas</a:t>
            </a:r>
            <a:endParaRPr lang="pt-BR" sz="3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48603" y="5347996"/>
            <a:ext cx="1134140" cy="7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79468" y="1266708"/>
            <a:ext cx="3044844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3200" spc="-35">
                <a:solidFill>
                  <a:schemeClr val="bg1"/>
                </a:solidFill>
                <a:latin typeface="Arial"/>
                <a:ea typeface="Poppins"/>
                <a:cs typeface="Arial"/>
              </a:rPr>
              <a:t> </a:t>
            </a:r>
            <a:r>
              <a:rPr lang="pt-BR" sz="3200" spc="-35" err="1">
                <a:solidFill>
                  <a:schemeClr val="bg1"/>
                </a:solidFill>
                <a:latin typeface="Arial"/>
                <a:ea typeface="Poppins"/>
                <a:cs typeface="Arial"/>
              </a:rPr>
              <a:t>chatbot</a:t>
            </a:r>
            <a:r>
              <a:rPr lang="pt-BR" sz="3200" spc="-35">
                <a:solidFill>
                  <a:schemeClr val="bg1"/>
                </a:solidFill>
                <a:latin typeface="Arial"/>
                <a:ea typeface="Poppins"/>
                <a:cs typeface="Arial"/>
              </a:rPr>
              <a:t> inteligente para atendimento automatizado com sugestões</a:t>
            </a:r>
            <a:endParaRPr lang="en-US" sz="3200" spc="-35">
              <a:solidFill>
                <a:schemeClr val="bg1"/>
              </a:solidFill>
              <a:latin typeface="Arial"/>
              <a:ea typeface="Poppins"/>
              <a:cs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320475" y="6635491"/>
            <a:ext cx="2541888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3200" spc="-35">
                <a:solidFill>
                  <a:schemeClr val="bg1"/>
                </a:solidFill>
                <a:latin typeface="Arial"/>
                <a:ea typeface="Poppins"/>
                <a:cs typeface="Arial"/>
              </a:rPr>
              <a:t>Realizar pagamentos com cartão de crédito/débito, Pix</a:t>
            </a:r>
            <a:endParaRPr lang="pt-BR" sz="3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576607" y="4240367"/>
            <a:ext cx="2375394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3600" spc="-35">
                <a:solidFill>
                  <a:schemeClr val="bg1"/>
                </a:solidFill>
                <a:latin typeface="Arial"/>
                <a:cs typeface="Arial"/>
              </a:rPr>
              <a:t>Mostrar histórico</a:t>
            </a:r>
            <a:r>
              <a:rPr lang="pt-BR" sz="3600" spc="-35">
                <a:solidFill>
                  <a:srgbClr val="145DA0"/>
                </a:solidFill>
                <a:latin typeface="Arial"/>
                <a:cs typeface="Arial"/>
              </a:rPr>
              <a:t> </a:t>
            </a:r>
            <a:r>
              <a:rPr lang="pt-BR" sz="3600" spc="-35">
                <a:solidFill>
                  <a:schemeClr val="bg1"/>
                </a:solidFill>
                <a:latin typeface="Arial"/>
                <a:cs typeface="Arial"/>
              </a:rPr>
              <a:t>de passagens/compras.</a:t>
            </a:r>
            <a:endParaRPr lang="pt-BR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1780700" y="4359749"/>
            <a:ext cx="373607" cy="37360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778483" y="3727603"/>
            <a:ext cx="373607" cy="373607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857964" y="1105556"/>
            <a:ext cx="373607" cy="373607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56705" y="2396179"/>
            <a:ext cx="373607" cy="37360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pic>
        <p:nvPicPr>
          <p:cNvPr id="37" name="Imagem 36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DE44C8E1-ACBC-39BB-C5CC-1A365036E6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7308" t="34866" r="17308" b="35812"/>
          <a:stretch>
            <a:fillRect/>
          </a:stretch>
        </p:blipFill>
        <p:spPr>
          <a:xfrm>
            <a:off x="16062085" y="330224"/>
            <a:ext cx="1797141" cy="807600"/>
          </a:xfrm>
          <a:prstGeom prst="rect">
            <a:avLst/>
          </a:prstGeom>
        </p:spPr>
      </p:pic>
      <p:sp>
        <p:nvSpPr>
          <p:cNvPr id="34" name="TextBox 12">
            <a:extLst>
              <a:ext uri="{FF2B5EF4-FFF2-40B4-BE49-F238E27FC236}">
                <a16:creationId xmlns:a16="http://schemas.microsoft.com/office/drawing/2014/main" id="{AB1E93F5-DCF2-90ED-98E2-A3F81E303638}"/>
              </a:ext>
            </a:extLst>
          </p:cNvPr>
          <p:cNvSpPr txBox="1"/>
          <p:nvPr/>
        </p:nvSpPr>
        <p:spPr>
          <a:xfrm>
            <a:off x="6826903" y="4098102"/>
            <a:ext cx="1134140" cy="7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F7019C7E-F3BD-E208-4E75-A7ED7CF78B90}"/>
              </a:ext>
            </a:extLst>
          </p:cNvPr>
          <p:cNvSpPr txBox="1"/>
          <p:nvPr/>
        </p:nvSpPr>
        <p:spPr>
          <a:xfrm>
            <a:off x="11002275" y="5864017"/>
            <a:ext cx="1134140" cy="7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6EDDE88B-1A6B-D724-AB2D-0A83BDDA37E1}"/>
              </a:ext>
            </a:extLst>
          </p:cNvPr>
          <p:cNvSpPr txBox="1"/>
          <p:nvPr/>
        </p:nvSpPr>
        <p:spPr>
          <a:xfrm>
            <a:off x="10840061" y="629408"/>
            <a:ext cx="1134140" cy="7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41" name="TextBox 12">
            <a:extLst>
              <a:ext uri="{FF2B5EF4-FFF2-40B4-BE49-F238E27FC236}">
                <a16:creationId xmlns:a16="http://schemas.microsoft.com/office/drawing/2014/main" id="{BA4E4693-5A73-C322-679E-0C9140217141}"/>
              </a:ext>
            </a:extLst>
          </p:cNvPr>
          <p:cNvSpPr txBox="1"/>
          <p:nvPr/>
        </p:nvSpPr>
        <p:spPr>
          <a:xfrm>
            <a:off x="8843170" y="7008893"/>
            <a:ext cx="1134140" cy="7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AA045DB-67D3-D5A2-8818-CA7355DC4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21263" y="953268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9</a:t>
            </a:fld>
            <a:endParaRPr lang="pt-BR" sz="3600">
              <a:solidFill>
                <a:schemeClr val="tx1"/>
              </a:solidFill>
            </a:endParaRPr>
          </a:p>
        </p:txBody>
      </p:sp>
      <p:sp>
        <p:nvSpPr>
          <p:cNvPr id="42" name="TextBox 20">
            <a:extLst>
              <a:ext uri="{FF2B5EF4-FFF2-40B4-BE49-F238E27FC236}">
                <a16:creationId xmlns:a16="http://schemas.microsoft.com/office/drawing/2014/main" id="{FF88BB5F-B8A4-5E2B-550C-386838C8C5F2}"/>
              </a:ext>
            </a:extLst>
          </p:cNvPr>
          <p:cNvSpPr txBox="1"/>
          <p:nvPr/>
        </p:nvSpPr>
        <p:spPr>
          <a:xfrm>
            <a:off x="6444963" y="4822025"/>
            <a:ext cx="1879374" cy="2302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3600" spc="-35">
                <a:solidFill>
                  <a:schemeClr val="bg1"/>
                </a:solidFill>
                <a:latin typeface="Arial"/>
                <a:cs typeface="Arial"/>
              </a:rPr>
              <a:t>Login e cadastro com google</a:t>
            </a:r>
            <a:endParaRPr lang="pt-BR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43" name="TextBox 12">
            <a:extLst>
              <a:ext uri="{FF2B5EF4-FFF2-40B4-BE49-F238E27FC236}">
                <a16:creationId xmlns:a16="http://schemas.microsoft.com/office/drawing/2014/main" id="{85F9C820-D537-CD74-6B9A-BA81E3770120}"/>
              </a:ext>
            </a:extLst>
          </p:cNvPr>
          <p:cNvSpPr txBox="1"/>
          <p:nvPr/>
        </p:nvSpPr>
        <p:spPr>
          <a:xfrm>
            <a:off x="15186086" y="3491753"/>
            <a:ext cx="1134140" cy="7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070BA-2432-C90F-C045-14E146DA5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0">
            <a:extLst>
              <a:ext uri="{FF2B5EF4-FFF2-40B4-BE49-F238E27FC236}">
                <a16:creationId xmlns:a16="http://schemas.microsoft.com/office/drawing/2014/main" id="{4D6D1780-F24D-C648-8976-4FB6178BDBF9}"/>
              </a:ext>
            </a:extLst>
          </p:cNvPr>
          <p:cNvSpPr/>
          <p:nvPr/>
        </p:nvSpPr>
        <p:spPr>
          <a:xfrm>
            <a:off x="12491859" y="4371231"/>
            <a:ext cx="4913267" cy="4825439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508BB46E-A906-749C-6447-A17D0BD0834F}"/>
              </a:ext>
            </a:extLst>
          </p:cNvPr>
          <p:cNvSpPr/>
          <p:nvPr/>
        </p:nvSpPr>
        <p:spPr>
          <a:xfrm>
            <a:off x="7919861" y="1589213"/>
            <a:ext cx="4568210" cy="4545080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C24DC79-1386-5D90-0735-9EA29D431D39}"/>
              </a:ext>
            </a:extLst>
          </p:cNvPr>
          <p:cNvGrpSpPr/>
          <p:nvPr/>
        </p:nvGrpSpPr>
        <p:grpSpPr>
          <a:xfrm>
            <a:off x="-5815208" y="-10619429"/>
            <a:ext cx="15178802" cy="15178802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F1D1FBB-A055-5F91-D64C-927FAAC381B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D6D72A0-AAE0-920E-F42B-D85DAB477D7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B9F29ED-70E8-833F-7642-50D98FE4A62C}"/>
              </a:ext>
            </a:extLst>
          </p:cNvPr>
          <p:cNvGrpSpPr/>
          <p:nvPr/>
        </p:nvGrpSpPr>
        <p:grpSpPr>
          <a:xfrm>
            <a:off x="-5123634" y="-9776895"/>
            <a:ext cx="13881919" cy="1388191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8FF8520-EC57-8092-6EBB-C2E8E1B47A3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B8A9012-6AA2-8810-B77A-9BF6FC0DD98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A4B5C0E-764B-9C76-1C01-F3C18F8951C1}"/>
              </a:ext>
            </a:extLst>
          </p:cNvPr>
          <p:cNvSpPr txBox="1"/>
          <p:nvPr/>
        </p:nvSpPr>
        <p:spPr>
          <a:xfrm>
            <a:off x="499847" y="662960"/>
            <a:ext cx="6033363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53"/>
              </a:lnSpc>
              <a:spcBef>
                <a:spcPct val="0"/>
              </a:spcBef>
            </a:pPr>
            <a:r>
              <a:rPr lang="en-US" sz="6000" b="1" err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</a:rPr>
              <a:t>Requisitos</a:t>
            </a:r>
            <a:r>
              <a:rPr lang="en-US" sz="6000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</a:rPr>
              <a:t> </a:t>
            </a:r>
            <a:r>
              <a:rPr lang="en-US" sz="6000" b="1" err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</a:rPr>
              <a:t>não</a:t>
            </a:r>
            <a:r>
              <a:rPr lang="en-US" sz="6000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</a:rPr>
              <a:t> funcionais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E4D3A3F-19FB-1C3A-242C-F373B0D5AA1A}"/>
              </a:ext>
            </a:extLst>
          </p:cNvPr>
          <p:cNvSpPr/>
          <p:nvPr/>
        </p:nvSpPr>
        <p:spPr>
          <a:xfrm>
            <a:off x="3110633" y="4888816"/>
            <a:ext cx="4546643" cy="4523513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2B1A871-DE1C-F996-FA40-B040F1E3B856}"/>
              </a:ext>
            </a:extLst>
          </p:cNvPr>
          <p:cNvSpPr txBox="1"/>
          <p:nvPr/>
        </p:nvSpPr>
        <p:spPr>
          <a:xfrm>
            <a:off x="3420715" y="6084646"/>
            <a:ext cx="3833824" cy="5571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/>
            <a:endParaRPr lang="pt-BR" sz="3200" spc="-35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006D2BE-6D13-F8A8-DE19-C5F0D4AC5E0D}"/>
              </a:ext>
            </a:extLst>
          </p:cNvPr>
          <p:cNvSpPr txBox="1"/>
          <p:nvPr/>
        </p:nvSpPr>
        <p:spPr>
          <a:xfrm>
            <a:off x="4773754" y="5304864"/>
            <a:ext cx="1285102" cy="758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982C474-3A52-CC4D-18B3-963A5A14B12F}"/>
              </a:ext>
            </a:extLst>
          </p:cNvPr>
          <p:cNvSpPr txBox="1"/>
          <p:nvPr/>
        </p:nvSpPr>
        <p:spPr>
          <a:xfrm>
            <a:off x="13339721" y="5492492"/>
            <a:ext cx="3275133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000" spc="-35" err="1">
                <a:solidFill>
                  <a:schemeClr val="bg1"/>
                </a:solidFill>
                <a:latin typeface="Poppins"/>
                <a:ea typeface="Calibri"/>
                <a:cs typeface="Poppins"/>
              </a:rPr>
              <a:t>Usabilidade</a:t>
            </a:r>
            <a:r>
              <a:rPr lang="en-US" sz="4000" spc="-35">
                <a:solidFill>
                  <a:schemeClr val="bg1"/>
                </a:solidFill>
                <a:latin typeface="Poppins"/>
                <a:ea typeface="Calibri"/>
                <a:cs typeface="Poppins"/>
              </a:rPr>
              <a:t>: </a:t>
            </a:r>
            <a:r>
              <a:rPr lang="en-US" sz="4000" spc="-35" err="1">
                <a:solidFill>
                  <a:schemeClr val="bg1"/>
                </a:solidFill>
                <a:latin typeface="Poppins"/>
                <a:ea typeface="Calibri"/>
                <a:cs typeface="Poppins"/>
              </a:rPr>
              <a:t>mostrar</a:t>
            </a:r>
            <a:r>
              <a:rPr lang="en-US" sz="4000" spc="-35">
                <a:solidFill>
                  <a:schemeClr val="bg1"/>
                </a:solidFill>
                <a:latin typeface="Poppins"/>
                <a:ea typeface="Calibri"/>
                <a:cs typeface="Poppins"/>
              </a:rPr>
              <a:t> Interface limpa e moderna</a:t>
            </a:r>
            <a:endParaRPr lang="pt-BR">
              <a:solidFill>
                <a:schemeClr val="bg1"/>
              </a:solidFill>
            </a:endParaRP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14872CEB-1736-AAFD-EF72-B9D9D87AFF9C}"/>
              </a:ext>
            </a:extLst>
          </p:cNvPr>
          <p:cNvGrpSpPr/>
          <p:nvPr/>
        </p:nvGrpSpPr>
        <p:grpSpPr>
          <a:xfrm>
            <a:off x="1780700" y="4359749"/>
            <a:ext cx="373607" cy="373607"/>
            <a:chOff x="0" y="0"/>
            <a:chExt cx="812800" cy="8128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A0DDD45-EAA4-DDC8-C403-DAFDE5F7641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E0C4C12-38D3-D3CD-40D0-3D780EE931FE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ABE7E715-5B3E-BD70-DC41-63A74F5F57AF}"/>
              </a:ext>
            </a:extLst>
          </p:cNvPr>
          <p:cNvGrpSpPr/>
          <p:nvPr/>
        </p:nvGrpSpPr>
        <p:grpSpPr>
          <a:xfrm>
            <a:off x="4778483" y="3727603"/>
            <a:ext cx="373607" cy="373607"/>
            <a:chOff x="0" y="0"/>
            <a:chExt cx="812800" cy="8128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D262241F-E57F-6060-0546-824FEDE3636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7BB2914-9BDB-C969-B41D-E0FFD81EA431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3F9636CE-18AE-6E20-AFEE-8CF6F11A4458}"/>
              </a:ext>
            </a:extLst>
          </p:cNvPr>
          <p:cNvGrpSpPr/>
          <p:nvPr/>
        </p:nvGrpSpPr>
        <p:grpSpPr>
          <a:xfrm>
            <a:off x="7857964" y="1105556"/>
            <a:ext cx="373607" cy="373607"/>
            <a:chOff x="0" y="0"/>
            <a:chExt cx="812800" cy="8128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958016B0-180D-E975-6730-569002FDD67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E2E16E9D-83A6-8BAF-0F83-DABE95442EE0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26A25F6-697E-E3D5-F2B2-249239417D37}"/>
              </a:ext>
            </a:extLst>
          </p:cNvPr>
          <p:cNvGrpSpPr/>
          <p:nvPr/>
        </p:nvGrpSpPr>
        <p:grpSpPr>
          <a:xfrm>
            <a:off x="6756705" y="2396179"/>
            <a:ext cx="373607" cy="373607"/>
            <a:chOff x="0" y="0"/>
            <a:chExt cx="812800" cy="812800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D5D5AD1-41FA-F3D9-4A76-76B9BA2C858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4D41EA1E-A5DE-48DC-E586-CCF98A9C6050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pic>
        <p:nvPicPr>
          <p:cNvPr id="37" name="Imagem 36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187E2735-5B5F-3483-CB5E-629E4098A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7308" t="34866" r="17308" b="35812"/>
          <a:stretch>
            <a:fillRect/>
          </a:stretch>
        </p:blipFill>
        <p:spPr>
          <a:xfrm>
            <a:off x="16062085" y="330224"/>
            <a:ext cx="1797141" cy="807600"/>
          </a:xfrm>
          <a:prstGeom prst="rect">
            <a:avLst/>
          </a:prstGeom>
        </p:spPr>
      </p:pic>
      <p:sp>
        <p:nvSpPr>
          <p:cNvPr id="34" name="TextBox 12">
            <a:extLst>
              <a:ext uri="{FF2B5EF4-FFF2-40B4-BE49-F238E27FC236}">
                <a16:creationId xmlns:a16="http://schemas.microsoft.com/office/drawing/2014/main" id="{1EB561B1-9AB5-93FD-7DF0-A1F33E322D6B}"/>
              </a:ext>
            </a:extLst>
          </p:cNvPr>
          <p:cNvSpPr txBox="1"/>
          <p:nvPr/>
        </p:nvSpPr>
        <p:spPr>
          <a:xfrm>
            <a:off x="9630488" y="1898367"/>
            <a:ext cx="1134140" cy="7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DC3401A-5B2E-D2C0-0EA4-BB8B85F441D6}"/>
              </a:ext>
            </a:extLst>
          </p:cNvPr>
          <p:cNvSpPr txBox="1"/>
          <p:nvPr/>
        </p:nvSpPr>
        <p:spPr>
          <a:xfrm>
            <a:off x="14398458" y="4726955"/>
            <a:ext cx="1134140" cy="7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360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EA2E8D3-65AA-9E3C-8948-631A3E46D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21263" y="953268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10</a:t>
            </a:fld>
            <a:endParaRPr lang="pt-BR" sz="3600">
              <a:solidFill>
                <a:schemeClr val="tx1"/>
              </a:solidFill>
            </a:endParaRPr>
          </a:p>
        </p:txBody>
      </p:sp>
      <p:sp>
        <p:nvSpPr>
          <p:cNvPr id="42" name="TextBox 20">
            <a:extLst>
              <a:ext uri="{FF2B5EF4-FFF2-40B4-BE49-F238E27FC236}">
                <a16:creationId xmlns:a16="http://schemas.microsoft.com/office/drawing/2014/main" id="{8CD79545-A70F-378A-A89B-523A5692BFD9}"/>
              </a:ext>
            </a:extLst>
          </p:cNvPr>
          <p:cNvSpPr txBox="1"/>
          <p:nvPr/>
        </p:nvSpPr>
        <p:spPr>
          <a:xfrm>
            <a:off x="8765656" y="2547588"/>
            <a:ext cx="2806713" cy="2933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3200" baseline="0">
                <a:solidFill>
                  <a:schemeClr val="bg1"/>
                </a:solidFill>
                <a:latin typeface="Arial"/>
              </a:rPr>
              <a:t>Segurança: tokenização para segurança de dados sensíveis</a:t>
            </a:r>
            <a:endParaRPr lang="pt-BR" sz="2800" spc="-35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08A9970-E530-0EF5-E75C-10573BDDAFC0}"/>
              </a:ext>
            </a:extLst>
          </p:cNvPr>
          <p:cNvSpPr txBox="1"/>
          <p:nvPr/>
        </p:nvSpPr>
        <p:spPr>
          <a:xfrm>
            <a:off x="3416060" y="6208862"/>
            <a:ext cx="38215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err="1">
                <a:solidFill>
                  <a:schemeClr val="bg1"/>
                </a:solidFill>
                <a:latin typeface="Poppins"/>
              </a:rPr>
              <a:t>Portabilidade</a:t>
            </a:r>
            <a:r>
              <a:rPr lang="en-US" sz="4000">
                <a:solidFill>
                  <a:schemeClr val="bg1"/>
                </a:solidFill>
                <a:latin typeface="Poppins"/>
              </a:rPr>
              <a:t>: </a:t>
            </a:r>
            <a:r>
              <a:rPr lang="en-US" sz="4000" err="1">
                <a:solidFill>
                  <a:schemeClr val="bg1"/>
                </a:solidFill>
                <a:latin typeface="Poppins"/>
              </a:rPr>
              <a:t>sistema</a:t>
            </a:r>
            <a:r>
              <a:rPr lang="en-US" sz="4000">
                <a:solidFill>
                  <a:schemeClr val="bg1"/>
                </a:solidFill>
                <a:latin typeface="Poppins"/>
              </a:rPr>
              <a:t> web </a:t>
            </a:r>
            <a:r>
              <a:rPr lang="en-US" sz="4000" err="1">
                <a:solidFill>
                  <a:schemeClr val="bg1"/>
                </a:solidFill>
                <a:latin typeface="Poppins"/>
              </a:rPr>
              <a:t>responsivo</a:t>
            </a:r>
            <a:endParaRPr lang="pt-BR" sz="4000" err="1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2886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8990215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2832861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061529" y="2443118"/>
            <a:ext cx="12164941" cy="4412223"/>
            <a:chOff x="0" y="0"/>
            <a:chExt cx="3203935" cy="11620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03935" cy="1162067"/>
            </a:xfrm>
            <a:custGeom>
              <a:avLst/>
              <a:gdLst/>
              <a:ahLst/>
              <a:cxnLst/>
              <a:rect l="l" t="t" r="r" b="b"/>
              <a:pathLst>
                <a:path w="3203935" h="1162067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375907" y="3185469"/>
            <a:ext cx="11557751" cy="19790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560"/>
              </a:lnSpc>
              <a:spcBef>
                <a:spcPct val="0"/>
              </a:spcBef>
            </a:pPr>
            <a:r>
              <a:rPr lang="pt-BR" sz="6000" b="1">
                <a:solidFill>
                  <a:schemeClr val="bg1"/>
                </a:solidFill>
                <a:latin typeface="Montserrat Bold"/>
                <a:cs typeface="Posterama"/>
              </a:rPr>
              <a:t>ROTAS E TELAS DO SISTEMA</a:t>
            </a:r>
            <a:endParaRPr lang="pt-BR" sz="6000" b="1">
              <a:solidFill>
                <a:schemeClr val="bg1"/>
              </a:solidFill>
              <a:latin typeface="Montserrat Bold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62A07AF-7371-03F3-4CE4-CEE3181A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99777" y="958019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11</a:t>
            </a:fld>
            <a:endParaRPr lang="pt-BR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47D12E-2A12-4DDF-AFB2-AC7677B3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B2EDCD-17FE-81B7-F4C1-8A3AE97F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12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FD74B415-193E-E052-2E9A-1FB478776F55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D7569B86-D516-4FAE-179B-2809FA6F6CA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0C9539DE-FD83-A92D-B020-1BFA5DC97FC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62C9B2AB-3BC1-551A-A5A7-06F0C51112C9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6D62AE97-BA50-697F-5EAB-9C9E555BFCE9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292F3D6A-E64B-EBD0-5BA3-5F4A10266EE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C51987A-DE20-55FD-E2D3-384EB0B8FF55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CF567C9-B127-90C0-C93C-98BFA597FF31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11F710DA-F8B9-B823-3D2B-2F9193D9110F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6A3FE351-9A71-D405-37AF-24292E9FD4E0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5140CB6D-D94E-6C9C-7673-86B74CBE91FC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871890DC-6E5A-4F09-F66F-7FFB76631AAD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B6DF69AD-CE9C-1819-A5A6-B272CA628C9B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51B0EBD-3CA0-6B02-1082-DEE8313C54D5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E66159C-723D-39C4-ECED-CF4C14E4A9F9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33256CE8-1C55-A830-3392-254190DCC4DC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FF85663-2F65-2BBA-9822-246805B6C3E3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85AA7157-E40C-2D57-4236-EF931DB39A22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B791B5A2-1152-DC8B-DE86-A397BFC0B71A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634A6CE3-8B4D-7579-177C-6617672A9418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D315B8F-5FEB-23AD-7C34-6D3350D8BCA5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6003FEB5-8843-8078-475F-9281B3DC24E4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8C525FA6-A14E-94A2-8852-721CDBA74996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4494BD2A-E7F2-53C7-ED77-C02375233DD8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319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3905F-0FCD-3D31-2BB8-0CF39E01D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9C1621-DB49-31E8-BD4F-488BD800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13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2F43175A-C2A6-AF52-7A8B-C550BC0732D0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6CEA4F9E-5EF8-22E4-FEA1-741E5A3E643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51DEB4E8-4F80-D2F8-A4B3-22BDC4FBB3B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E9E803E2-A648-8399-2059-AC7988490985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5949980A-59B6-4A8F-1B0A-A30C145F57C6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82B19AA5-A4C0-AB09-D9FA-856B6070408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50343BD-F711-719C-68A6-AC8919978129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23EA09D-6CC6-7F4E-90DF-294DB3C47DD8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chemeClr val="bg1"/>
                </a:solidFill>
                <a:ea typeface="Calibri"/>
                <a:cs typeface="Calibri"/>
              </a:rPr>
              <a:t>PRINCIPAL</a:t>
            </a:r>
            <a:endParaRPr lang="pt-BR" sz="4000">
              <a:solidFill>
                <a:schemeClr val="bg1"/>
              </a:solidFill>
            </a:endParaRPr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1C5E4057-01A4-459E-EBB6-3E2BF23DF7F0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5DF2DC51-9D07-A0BF-BE01-77A59665BE34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1D562346-A031-F232-4E58-3D97288F4027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D5BE2FAD-72A0-A226-84F3-10D97C06E24E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2BCB7E3B-5C68-269B-4A81-5924FE4F2E54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E5CC882-1EA8-E115-DEF3-5800F99BA570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F5859F4-1E11-EA65-FD66-C6ABA2D6AFD0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098F9C99-45F6-B259-8420-8920AB355A4B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2B5DFF4-F106-DFE2-A5A3-C2395720042D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9C1D023F-78F6-6AB1-0D09-C29FFE540BB7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341D89D-598B-516B-091D-3C2E348D3CEF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E57F37F7-87E7-724F-885B-64582A7EC0B2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CB4D8306-EC03-F9FF-3C58-D822F8DBD7F5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4E760E28-1C55-F1F3-210D-E365FEDF54D0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AEF5A37-84E7-FF24-48DD-706E8B49E4E1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E659B990-1B4D-C017-8BC5-151249D67441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592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195B9-8661-1B86-D366-2C7A0F1A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C335B0-663E-3EB7-9C6A-6717072AA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14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3836AF44-E0B9-231F-6215-9FA3176B7A72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86275D0-38E1-26C9-7914-E037167928B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54B68173-74F7-2ABF-7ED7-DA113434BCA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A855FEAC-2C22-B2CA-2128-EF966009A4FF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47812416-6A85-7C7F-E2E4-10E41FFFCD62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600E9952-5A44-BFF2-EF9A-F7C794023F1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" name="Imagem 1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E764793C-2C15-B644-3BB5-F9325A2563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7" t="1296" r="332" b="926"/>
          <a:stretch>
            <a:fillRect/>
          </a:stretch>
        </p:blipFill>
        <p:spPr>
          <a:xfrm>
            <a:off x="257196" y="601797"/>
            <a:ext cx="17796805" cy="8744838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49543692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B5369-E77B-E5D1-197E-EE81D9ED7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09E79A-8033-D2DA-E2C3-39E67E621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15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E42B59FC-5C0B-6C97-0206-24AABB4F1E08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FE851C98-959C-0D25-D042-B6995A37E61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60F0909C-2A0C-738E-C80A-FB03D2C22BC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79D0CDC6-96DE-A6E5-E98E-AF4D92B23CB1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10618DE6-758E-4A01-274C-28C0D38526F2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EFD5E809-ED77-CB90-5866-31D2CF9FA52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F2FA7C8-D5E9-221B-24D9-2E938BB4D3CD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C4AC51-9213-F009-FCE5-00BEB0AF64E2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chemeClr val="bg1"/>
                </a:solidFill>
                <a:ea typeface="Calibri"/>
                <a:cs typeface="Calibri"/>
              </a:rPr>
              <a:t>PRINCIPAL</a:t>
            </a:r>
            <a:endParaRPr lang="pt-BR" sz="4000">
              <a:solidFill>
                <a:schemeClr val="bg1"/>
              </a:solidFill>
            </a:endParaRPr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24C2BD1B-155A-D3FE-6BA3-48BEC30588D5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FBA7404F-96CE-7039-8652-551944A631BC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DA3AE5AD-C569-E2FA-7A48-0A2E9E1F7EE9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7FEB3EED-AF69-AE7E-352D-0A65AC329F4C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6369128E-0ED3-7190-C9DD-80B1F28A2D69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8C2646B1-626C-C131-A662-AB153B7B8759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2E6BDED-140A-0772-4F74-115C4DBCC1BB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01E9B7BA-74FB-C491-9A21-4ABF7F4B30D4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12F43A8-9D4E-F05F-3DEA-91A85B7694E3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E97C076E-BE10-D8AE-D151-8EF87078982A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C2D9C44-3C55-13E3-0D5E-DB69F9374594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547DF799-5A5B-FE34-00F6-F31C4A27B741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6F1D8F62-4EA6-3B4A-955E-67362B510DE9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2826DAE4-4A8B-382F-CA7E-42ACDFED71A2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E98467F-2762-5414-2224-F66620C31403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B6807CA2-A6B0-1A70-3657-6A6B3384A194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836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0E0B1E-D2AE-9590-F8EC-D2A3449E3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121DA1-29EC-A9F3-50C5-965669B9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16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EED50344-587C-B3C2-8B38-8A61D9529791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C0D56CB3-DAFF-758D-7DF5-F743D434BC8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F8E93D51-0D87-1AC0-8DA8-5F54BE70F95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03A50540-9EF6-E8BF-9AF1-1C52B46DCD1A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CFC96FF4-B4FE-8380-9342-CE4479838990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FF105F45-942D-36CE-33F7-5EF8337DA1B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D03122A-9B7C-E418-1E21-5C0B78E1B530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E7C02DC-CCFC-4E35-6BC4-26F9CB1A1941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4E899149-C5DD-29AA-4B79-CA9410825576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F020D419-7F1C-34CA-070A-54BEBCCEE9B4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E8AAC496-694D-AE21-8FA0-457DC0FD6D87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0D5690EC-09E3-9D46-1CFA-FABFBB03AA2E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6F61B69A-538D-DCB5-100F-F8D676483A2D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4095BA1A-6FE2-EF6A-5E99-3650B9B41FCF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EAEC266-D63E-A733-4B8A-BB96D48107D7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chemeClr val="bg1"/>
                </a:solidFill>
                <a:ea typeface="Calibri"/>
                <a:cs typeface="Calibri"/>
              </a:rPr>
              <a:t>LOGIN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746E0E2E-BC99-2E9F-0D74-4510574A5A18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C34EF67F-7858-04B2-7B98-A14314947B18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BB611E07-AEEF-67C8-DDCF-A1453F4B12AE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C460EFE-3D7B-F955-E98D-F55B19297950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360CBE26-073A-A554-26D7-6637CA8FA4F2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F0A08D4-5880-8A52-5C3B-5F8520E4FAC1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15EFDE80-E744-93E3-83EA-74E655EFFF05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06902D7-D300-1161-0800-0084494BF44D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8DC6B28C-D0D9-A976-F02D-AA728D62B6B9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873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85C55A-4D55-D2A7-3B94-A40475C46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484D1B-2D6C-8D20-492E-90D4B075E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17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EBC87CBC-85E8-7D96-1CDE-7B794717B43A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62146161-584E-348E-E574-8AD3E38E6A3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314E345A-B364-65E6-DB89-0BB52F14737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7BFCB3EC-5D0F-6ED3-5B76-FBC2D4A0A115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119E1A1D-5A3C-206F-8540-583812E29C6F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F7866AA4-6510-6706-4347-498949ED547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" name="Imagem 1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93B4C5FB-9F79-B727-4394-A3492C0511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294" t="23890" r="30106" b="11975"/>
          <a:stretch>
            <a:fillRect/>
          </a:stretch>
        </p:blipFill>
        <p:spPr>
          <a:xfrm>
            <a:off x="4139143" y="260138"/>
            <a:ext cx="9724812" cy="964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85592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E4B4A-3B22-4CDC-1A3D-BF14F67FD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835327-FA9A-06CC-C2B4-E2D6A2AD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18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9FFB7C5E-48B0-AC97-A279-A46C2CC38AA1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5800564-D260-4F2F-9F7F-48611BD272D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EA388662-8904-DF88-4EF3-C9211B4155D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C5F50588-60B0-AF65-E12F-9607CB1E4DD6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E4BCD760-CAC0-4ACD-D587-FF1D7A5E9E4C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6AD5EE7D-7183-E545-D4B2-DEC06EA0EDC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389A7E8-FC8A-D8AE-43EA-B3454ABB7872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D54E013-11C4-D61C-0152-141BEE9C06E7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EC15EAF0-E02C-F774-09B3-2CEF91F4CB75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BE6F87CD-8EE7-E485-FDB2-4C77749F4864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18A69FCF-2DEF-8634-D9BA-78B721FB04A2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C1362258-913E-70D0-9371-22FEC3D07E8E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6359C33D-C4AE-261B-6D6B-B2EF38BA7B8D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E4FB4D3F-1EF4-B7C1-6DE9-FC29B7A27EAC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1D2731D-A046-8C83-E18B-19A163F5F778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chemeClr val="bg1"/>
                </a:solidFill>
                <a:ea typeface="Calibri"/>
                <a:cs typeface="Calibri"/>
              </a:rPr>
              <a:t>LOGIN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F749F48C-C135-9FC8-0571-7D909F31C7C6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987A4A0-6B58-EFA2-E958-865AB51DAA94}"/>
              </a:ext>
            </a:extLst>
          </p:cNvPr>
          <p:cNvSpPr txBox="1"/>
          <p:nvPr/>
        </p:nvSpPr>
        <p:spPr>
          <a:xfrm>
            <a:off x="6033182" y="2269147"/>
            <a:ext cx="2476331" cy="7199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BAFBE9B6-8409-F226-EB30-5629E7E381AA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55167D1-A786-01A6-C211-555FB1E09933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A23CE930-A355-D41D-49BE-983697452B30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7F44948-535D-1956-997B-77420A6295DA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2FEA4869-ECD1-1F88-3644-C38BE33AF83F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E9DDFD5-2A51-8EFF-2F3C-E697EA77E946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49323C80-8F82-C997-9B33-718DC9F56AFF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73576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5D6E53-F3D0-206C-AF04-23EE7AC3A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7C8F2A-9A9B-8B07-E2EE-DFE89C66B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19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1FBD222C-C95B-A84E-7969-95A111099FBC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991C9991-956C-834E-5DDD-4D5E08C6DA4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A978DA05-831C-0BFC-E6D8-75E387F1893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9F12937D-5376-3CDA-7E4D-AE9E5431EEBA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ECB8768E-F6A9-C75E-4F01-344CB260881B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818230A3-D49E-E6E7-910F-40A54AF804B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10DB2E4-CF0A-247E-0C2D-93EA8F786852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71CA18-8BF4-37D9-482F-53F19A65A337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63C222DC-C9DD-19F8-632E-A6110761FD9A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8A808FBB-E881-DF67-787A-53BE398EFE4A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90EBF3D6-80AB-CCBB-E2F6-B75BD93D4337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C51FB786-3191-1556-ADD4-E7E1FEEEAC98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9791A4ED-004A-4F73-B8B7-E745425AFF19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16BD32FC-F582-2D9E-F6B8-CDD31C0D722E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909FA7D-836A-7D77-D23D-350B61DD1A29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E3AC427A-EC14-8CEA-9596-F0BB7F2E9A28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ED33EC8-FF4C-789E-FA71-7C7EFD44BA1E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rgbClr val="FFFFFF"/>
                </a:solidFill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5C07BB9A-6954-424C-677E-2C05558190A1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B1CDFBF4-B98F-D1FE-CAFC-86F850131611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20AEAB62-9264-EC00-0731-819188FDE06B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C8D71FC-7BD7-61FA-D9A8-5DD7B1115A66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4ECB51AB-A6AA-28AC-7E83-B3E83AA4701B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19C11EA9-17F0-F69E-2A9F-852DE53A8A1E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96FB7716-5161-65A4-7AEC-1F7241F03479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24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ECC747-D65E-AADD-DDD0-7B645D63C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926164-B558-17F7-F5B6-A15559908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20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10169CFD-02A7-0678-E4C6-853638689028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E02199A1-D7C2-C763-C47B-3B9843821C2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7AC74548-E5F1-C64B-B7EB-3D905ACD185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F55CF92D-CAFF-0A65-D088-511013D5470C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127945B7-FF54-9BCC-5E98-F064E32DB541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A8CABAFC-7F93-CA72-C6E8-8DE5966F192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" name="Imagem 1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26AFE87-2138-D856-23E2-575C39CCE5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91" t="22969" r="32468" b="8613"/>
          <a:stretch>
            <a:fillRect/>
          </a:stretch>
        </p:blipFill>
        <p:spPr>
          <a:xfrm>
            <a:off x="4717336" y="288830"/>
            <a:ext cx="7976578" cy="980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49218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918808-3BC7-43F6-6B91-B8761C724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B7F375-34E1-9C50-FE14-695F1BD12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21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0393518D-062E-DE5E-77FB-52C5AE8B8E96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BFB3167-1A0B-8098-B07C-7D28FB34DDB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785CD8BF-65AE-059C-752B-B7EF6F551F6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69B5DDA0-5903-B49F-02E7-9864345DEE8F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A4D47E6F-4256-28EF-0917-76F30244E616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555ADB64-D47B-7DBB-7A8D-D18931C5419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9A6C0CA-9541-AE1B-CF50-7C380794D6E0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94BB769-28E0-A4A5-7081-DDCB483F27B6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C8602E63-85CE-C0A3-F8CE-0B9C7579AD10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C6215502-EDBC-A9B0-95EB-C36CC14E4621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E646C49C-EF6B-55CA-D123-B0501371BAA9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D2A994D9-CFB6-17E1-67AA-3CC70B995B28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9610CB10-69D5-E5DB-9FB0-0C055D3B4976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BBFCB90-BBA0-D480-676E-4B50DFC05CB4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DD8A651-756A-56FF-2617-860416B6C653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20C3358-1B29-738F-7006-03585B089636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306CC8B-866F-8E5E-4AEF-814D7BED4028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rgbClr val="FFFFFF"/>
                </a:solidFill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4D87F333-A5FC-0217-6F96-7A88FA78ACEB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9F4CAFE-4A6C-80EF-494F-CF47917E10CD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55609359-5EB3-6172-7B2D-AF77B9665DDE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9EAA29-9B0B-D17A-075D-AABB84F6F3F9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7164487D-B34C-957C-B5DB-2F6C6203F8B8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8C5C3CB-2BE4-17FB-AD22-E0525B812685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73EA3B3B-6E89-F47F-A12D-2DB056C71ABF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113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19D2D-389D-049E-127E-F6081C0A7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234FF2-B230-AB20-7A0B-9350BC61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22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CCC087C3-8980-B10D-1A8E-7609462AADD1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86558D97-975D-8837-D278-B5654EEF7C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A614C97A-65F8-8903-0EBC-10F69E306AE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CEC4A780-1B80-6C5A-0093-CAF5D5E5F60F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52ACD81B-9F66-D9D7-6167-499F3A21591A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B61932CD-0D17-DD1D-9220-750F8EE8420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4D6577E-4E31-1A93-186C-E85FA82F2AF5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4F5E4F1-49B0-D30D-D807-CE58C3FEA21D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rgbClr val="FFFFFF"/>
                </a:solidFill>
                <a:ea typeface="Calibri"/>
                <a:cs typeface="Calibri"/>
              </a:rPr>
              <a:t>PRINCIPAL</a:t>
            </a:r>
            <a:endParaRPr lang="pt-BR" sz="4000">
              <a:solidFill>
                <a:srgbClr val="FFFFFF"/>
              </a:solidFill>
            </a:endParaRPr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FC2A736E-9227-0843-9E51-6A4D367F64D6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F39D9E42-FDF0-4610-579F-F706BEE9D04D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1D645E4A-9077-62EE-FA5E-3FBD06F57887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140B0F27-1385-C598-D6D0-8514336807B0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13A82C98-99C1-94FF-B123-8DAF2DF36983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41FFE3C8-8BA8-2B98-B25E-2DAEDF4DDB6B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1E59A1C-5C6A-D4BE-B97E-435424C71F91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734EE506-F4C7-030F-5C67-C322F66CC688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78C1491-C2CD-C6B6-2FEA-F2BE923C5AF5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528F7809-B3C0-B796-0E09-F6391EA6CD50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807EDB0-3897-5276-8F68-61881F5A43EF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350C22A4-24F1-2813-4276-CDCA8DBB584D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E449424-1AD7-75DF-CC08-E1A34039F7E9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98C28FAE-B93C-C964-10CE-780694A76B35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A98D1F8-2821-6226-31DE-32E704884518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28988CF0-CB23-9989-7994-56534152859B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199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AE197F-7165-DC03-B997-5355297EA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8E3C92-E133-E782-3832-67C0F4D0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23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7F679939-72BD-E906-56F6-8C1A2D7866ED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8ABF8FC3-D34D-74F2-857C-F2A9E09C564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CC920A5C-3160-6F6A-3360-991A6B99404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53E334F0-E961-5672-9756-6E68879D8FF2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C2243F93-2FF2-02B1-39C5-B8A974389A26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8C598FED-ACD0-C753-A002-D7377516F3E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" name="Imagem 3" descr="Interface gráfica do usuário, Aplicativo, Teams&#10;&#10;O conteúdo gerado por IA pode estar incorreto.">
            <a:extLst>
              <a:ext uri="{FF2B5EF4-FFF2-40B4-BE49-F238E27FC236}">
                <a16:creationId xmlns:a16="http://schemas.microsoft.com/office/drawing/2014/main" id="{504D7DA0-3AC2-5238-8454-70C99A2534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" r="173" b="362"/>
          <a:stretch>
            <a:fillRect/>
          </a:stretch>
        </p:blipFill>
        <p:spPr>
          <a:xfrm>
            <a:off x="269832" y="626086"/>
            <a:ext cx="17745527" cy="8594576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316209205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0EA989-D06B-DFED-5EE5-7812D35BA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7089A2-B57E-B127-2057-AF1A30C57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24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44649F92-10E3-7522-74BF-559C46FEB1AE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FA36117F-51BF-09BB-EA0F-91C9A5CA3F0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96B8184C-306B-97CF-F1B5-07FF4A7F8A8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7B4F848F-EECD-3554-19B5-59D99E89B210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02789A24-65FC-B960-972A-303600280ADF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A72BFE50-31AF-F70C-A8F3-2CF3AA126A3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" name="Imagem 1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1206E647-9F3E-F6F9-6974-E9A8A7D98A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8" t="-181" r="3747" b="2149"/>
          <a:stretch>
            <a:fillRect/>
          </a:stretch>
        </p:blipFill>
        <p:spPr>
          <a:xfrm>
            <a:off x="317372" y="778565"/>
            <a:ext cx="17725801" cy="8649319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1845941766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464A5-2393-261A-A226-63250F3BC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C5DDFB-2263-3553-251C-4816DBD3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25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63E5DA50-887F-1E03-10C6-FF66F171CE35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1622762D-6591-515B-B428-0CA614F93EA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BA5CB08A-AF80-A0D3-CED2-32F7953FE90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599A7A85-DCCC-0064-B242-79F760A29DA6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E88503DE-EB0C-1A6E-4706-D25586EF5FF3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43B41A2C-972E-C749-B954-FEE72BE949C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C41499D-4179-BD6E-B570-40AAF9E59DC2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1E9863A-9E58-7B4A-9F49-873D86CA9D4E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19A315F0-60D0-5BFF-F691-F31B14DE9C46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3E4A1871-913A-3871-E723-A3FDF494A836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E4DE5E35-7D0A-79B5-25D3-FAED9A2E7CA5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96EEE869-B104-5FD2-11D2-E1E83AC47639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58E72280-EEEC-B856-F6D9-F1A5973F7503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3481ADE-3A66-E1F8-2EBD-308F08B64031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BEBF8A1-D8C8-62A3-DC86-6B7A443CFAD7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5FBA5894-112E-8AB5-41E2-EC296336AD67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A9904E95-B443-7333-5458-E8913C0BECEA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2C6BA90C-2FF0-C663-100F-E96A84C8C4DB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3C7BBCFA-15D6-0BBE-F9E9-8391C5FAA8AE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rgbClr val="FFFFFF"/>
                </a:solidFill>
                <a:ea typeface="Calibri"/>
                <a:cs typeface="Calibri"/>
              </a:rPr>
              <a:t>RESERVA</a:t>
            </a:r>
            <a:endParaRPr lang="pt-BR" sz="4000">
              <a:solidFill>
                <a:srgbClr val="FFFFFF"/>
              </a:solidFill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25E79CBC-A3B5-F49C-7581-7D3FA94219CE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7716691-4507-00CC-C5A8-1E1BCD873B32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59AA37C0-6192-A231-5F3E-2FB826FD0034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E3DC93E-BEED-5609-D792-2B453DF8A678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AE72EC76-3FD7-394E-1704-1C7F8042CA4A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409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25981-ECF4-3EED-0B2D-C9558897B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13BF59-B067-8E2E-27E7-0A8D9BFAA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26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343393AA-CA84-0677-D020-0E765B7FA2FE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7F9ECC5C-4291-3E25-0B0C-8B117B4A83D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94DB6C01-E247-7E5A-C8B9-90035D32530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FFE12CC6-24D1-9E45-1CFB-2C68EC0F9096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905718F9-47E8-2FB7-4FE1-674123F78E94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3529D7B3-FE2A-2CD4-D81B-1AB567BC9F8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" name="Imagem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CA76843B-AA61-3659-A1C8-8AD3438DA6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" t="722"/>
          <a:stretch>
            <a:fillRect/>
          </a:stretch>
        </p:blipFill>
        <p:spPr>
          <a:xfrm>
            <a:off x="305366" y="780717"/>
            <a:ext cx="17663415" cy="828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00190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2E4F6-5BF7-33B0-AB8C-4B9C91DCF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C69A10-6EAF-339F-6A42-76D3C212B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27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4ABE0646-5F37-C1E3-CC34-6D6C5F07FE34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16D99570-F153-44E9-50C6-9D46C705059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073C3876-5913-D58A-1670-9CB8C8351EA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E099C35A-6C34-BDFE-40B3-5F234F947EB0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D288D897-22BC-6514-2DE6-93755433E4DC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E7FE2D0A-F3B3-8614-DCBD-B6CBA5A7C4A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" name="Imagem 1">
            <a:extLst>
              <a:ext uri="{FF2B5EF4-FFF2-40B4-BE49-F238E27FC236}">
                <a16:creationId xmlns:a16="http://schemas.microsoft.com/office/drawing/2014/main" id="{0826B8E5-4859-89E9-FCE9-B566D9DD07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1" r="3861"/>
          <a:stretch>
            <a:fillRect/>
          </a:stretch>
        </p:blipFill>
        <p:spPr>
          <a:xfrm>
            <a:off x="254382" y="555171"/>
            <a:ext cx="17765566" cy="917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229687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222283-95C3-3F77-B0FE-9D97083C0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D879E6-EEEE-3EBF-6659-E0FF3C35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28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7B5C2649-4471-A3EA-1371-90C38F1A6C8F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E5E4B02F-CD39-CA4C-AE2C-8DBEAA5A12B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AD9C564E-6B59-6380-3612-059D78E9F85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61F0CCC3-A567-E7AE-7F9B-EE52FC8EDCB6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8A17D92B-8503-46B8-300E-026F0F05D554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C9408BA6-A2BB-8564-8FD7-5410B0C7031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" name="Imagem 1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293F362E-D045-79DF-2FA7-CA452F9FB6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07" r="3507"/>
          <a:stretch>
            <a:fillRect/>
          </a:stretch>
        </p:blipFill>
        <p:spPr>
          <a:xfrm>
            <a:off x="254146" y="314739"/>
            <a:ext cx="17765566" cy="917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42531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0B1762-190C-3FCB-AC78-54073E3DE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84E0EA-69B1-6D6C-7067-DE9A568E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29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DEB8E580-A268-6DF9-4028-A056B6B8F010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BDA2DDBA-94D1-7128-4487-67D87936EAB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020A45E9-EC96-CBB3-D4D0-54046B140FD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B6E32C98-2FAE-52B0-191A-734B3ED64FAE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E9622155-F473-9C2C-7F92-D80E54DC8B4C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6993A443-CA68-2071-9AF9-2836DD0874F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ABC2BA2-A0DC-EAD6-8099-5CA4E35EEC0D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A2305C2-D423-5133-D8A1-A826BAAF6F69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1FB4680B-EE41-144E-5AF7-1E7139D29EB7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2C980B5F-E8F2-7D7C-1916-0CB28CA7DA51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12C93202-266A-2F8C-CF10-21D06159091D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2559E8FF-B65A-2B40-FFDD-048D53520A77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1D521A55-51C9-09A4-5497-C7B785FA9282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6269CEC4-8F64-017C-29C3-3727882AE681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BA60828-64B1-6223-6AFF-E7285F423078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2E5E62D5-7D9E-8949-31AB-7138F0A38C17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5C27685-C721-5190-052F-2E02C7E840DD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56C68E6C-E38E-FF9F-DE29-872827E04032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5356767-139A-FBF2-36F8-44F05556295A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rgbClr val="FFFFFF"/>
                </a:solidFill>
                <a:ea typeface="Calibri"/>
                <a:cs typeface="Calibri"/>
              </a:rPr>
              <a:t>RESERVA</a:t>
            </a:r>
            <a:endParaRPr lang="pt-BR" sz="4000">
              <a:solidFill>
                <a:srgbClr val="FFFFFF"/>
              </a:solidFill>
            </a:endParaRP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8CFFD1AC-6853-5226-78AF-5465F717E01F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93E2DF0-7F4D-E211-98BD-3D8D58499AB5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C42E3AA7-81B5-CAB1-30C1-7F0CFA20ECBA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001D2FC4-61E6-977F-1C07-0021EC87E3C7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C48C886E-354C-E3E1-2360-C6C2E2AE6EF7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562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F86F29-5336-6CB6-C5E9-484A3308E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4F0E7F-9638-3E5C-D134-1FD8B93D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30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7BDC1491-795B-0E0A-DC0A-EDCCB98D913D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9EF8AEF0-1457-4F0B-86D0-C1EDAB47C9C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2792C901-FC77-A828-0BB6-2011018966A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5CD02FCD-C133-C37A-E21D-3606F0F5B3B8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4329452D-21F4-8743-3523-2E833105A12E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41ADEFF2-B587-B920-0C6E-4AAC0228FAF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A530F4F-ADAD-B8E3-B005-F0818737702E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1CD4105-50FA-F679-F50A-17A3CD9C31AF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5080DAB8-125E-3758-AB00-F72E2D223919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E6CEC484-035F-D5D0-6B39-DA88E9BCB6B4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4FE547B3-E66D-7559-6B60-8ED1A110B4D7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C0F50E12-F8BA-6229-1D0F-C852E71BA32C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B358D7AA-3136-5B1A-EE6C-6467D89D80FC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54CA96A1-5312-8AF8-9FE0-C286EC45655B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8DA73A3-F9B5-0C02-26D4-A46D6A00133F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107C063F-59EB-5B12-4940-29B50216922E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4424B26-4661-393B-EDD5-74B54DF4908F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97071520-0196-5867-39F1-5CAE3F8913FF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B0264FA-12E5-6921-5396-0BB999CF96D9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87802F47-051A-4BD2-551C-0FCCAD579859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671438C-C999-0213-50D3-D122BDAE0F28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rgbClr val="FFFFFF"/>
                </a:solidFill>
                <a:ea typeface="Calibri"/>
                <a:cs typeface="Calibri"/>
              </a:rPr>
              <a:t>COMPRA</a:t>
            </a:r>
            <a:endParaRPr lang="pt-BR" sz="4000">
              <a:solidFill>
                <a:srgbClr val="FFFFFF"/>
              </a:solidFill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B2B96180-1BDA-89DE-42AA-E39EC0F70D5D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0515AC20-0473-FADA-A086-7F5B652FB8D6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4C50F580-E112-0BEC-5937-4AD5A23C5810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647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81417D-1FCB-37E8-E782-18B90FB5F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FCF1FE-CDCB-6D16-7FC0-61E4E07AA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31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A29371AC-B634-A67E-6C05-C820233BEC1E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A3220BA-1233-2249-94A4-4244CED4B7E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B6320BD3-1099-9C3C-3FEB-2CCF5899F1B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7BCA00E8-C9F0-E163-D33D-3FBFA81F7F59}"/>
              </a:ext>
            </a:extLst>
          </p:cNvPr>
          <p:cNvGrpSpPr/>
          <p:nvPr/>
        </p:nvGrpSpPr>
        <p:grpSpPr>
          <a:xfrm>
            <a:off x="-1643109" y="-1715587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96E4FDAE-9FCD-C8E1-6AA7-D667378E1977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549CC12F-B33F-E14D-445E-A11F706CFB7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" name="Imagem 4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4DCF4B33-7F94-D9BE-ACD6-9AE7BC74D7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" t="1020" b="1837"/>
          <a:stretch>
            <a:fillRect/>
          </a:stretch>
        </p:blipFill>
        <p:spPr>
          <a:xfrm>
            <a:off x="338058" y="796440"/>
            <a:ext cx="17607276" cy="813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3500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F6089-0FF9-C01A-334C-1381F0719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51AA5B-81ED-92B2-813B-6816E0C84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32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CD7DD9D9-0D84-6A50-6634-C2D14422D369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0C0FDC2C-1CD8-7E5B-6001-D94EABD66B1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2E0EB2D4-CA38-9903-46E5-41FEE142097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772DF637-BD3F-55B0-8444-EBEFE8F1540C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2579BE48-AE8A-AE96-0349-6F9927E06612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1FCA8AE3-A40E-4215-DE34-2F1F751AF69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7" name="Imagem 6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BE7811FD-2CB2-8C69-18D1-3E465AFC9F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23" b="6435"/>
          <a:stretch>
            <a:fillRect/>
          </a:stretch>
        </p:blipFill>
        <p:spPr>
          <a:xfrm>
            <a:off x="3136776" y="694936"/>
            <a:ext cx="12006965" cy="890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330366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EBCDE-916A-1796-B1D2-8982CA4ED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AF381F-FBCB-90B8-A456-AFA7390B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33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328A277A-D53E-D219-4F2A-6E14952FB8D0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9DBA2E35-5C85-1F4E-2037-98F03B5C180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8557253E-0203-D501-F125-98F3F392E5C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854C66CF-210F-2EB6-5186-800591CB3D83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E288441E-B132-D807-BB25-07C07B64E4FA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8735E71B-BAC6-00BA-F9CB-84A89BCE744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" name="Imagem 1" descr="Código QR&#10;&#10;O conteúdo gerado por IA pode estar incorreto.">
            <a:extLst>
              <a:ext uri="{FF2B5EF4-FFF2-40B4-BE49-F238E27FC236}">
                <a16:creationId xmlns:a16="http://schemas.microsoft.com/office/drawing/2014/main" id="{4B819C29-175F-0712-9744-CAD9B84F2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965"/>
          <a:stretch>
            <a:fillRect/>
          </a:stretch>
        </p:blipFill>
        <p:spPr>
          <a:xfrm>
            <a:off x="3581454" y="672519"/>
            <a:ext cx="11112302" cy="894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71910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7D111B-DA56-7335-917A-6E12B0E5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894698-0FED-E06D-4F9A-F20BAA60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34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F5F0D697-506B-8A65-E458-3401DACE2944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F5C7BEC-7493-9F02-7B1C-E978CE5047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7BF04C58-F537-F279-5025-8A4DBD85B40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89A77292-8B53-FC85-7CAE-39935A859EC7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13F38764-45FB-6CBB-CA4D-B80A70010258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2553EA06-0452-D724-963F-9130AE81A73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" name="Imagem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D87B12C5-F62D-0175-819C-57DBFFB6B2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22" t="3340" r="-1402" b="5420"/>
          <a:stretch>
            <a:fillRect/>
          </a:stretch>
        </p:blipFill>
        <p:spPr>
          <a:xfrm>
            <a:off x="4134971" y="564614"/>
            <a:ext cx="10676767" cy="884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18075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7E090D-262F-00B3-9CCB-6065FBECF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47D459-4C9C-DFB2-2D08-7A20E24C1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35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909BA632-ACB5-8137-AD8C-CAD4DEAEEDA5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6AD0069E-EC2F-90A5-EBF1-DED54A755C7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165AE1FD-3B44-1B50-03DA-7EB0B99194B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4BA67129-DC66-7281-B297-64017E3FAD2B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D56D1FC1-6E0F-C1CA-949C-E6E77AF849AE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B6353E68-F169-CF84-A3D3-23D983882EE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4ED16FD-6721-C4C1-0A06-25C3A6835B9B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767842D-90E0-7BB7-4649-E7B0993F02E5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1C0D4A3B-2EA9-C0BE-B1B4-A0EFCA13A200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34BDA2E3-EE36-4518-4DD2-424936F248D0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6DE21494-52DA-C37B-8009-8435E5FC5241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7964AFB3-7D97-158A-B6B8-2DE6A14B0F5B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12822B32-8D44-5E3E-E823-CB450E2810FF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9B46E4B-337A-3D67-67EB-5EDBCBCF0C64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5E6282A-7D76-D622-9867-5CC782D8F8FE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8811E6BE-1194-1DFA-09E6-FC0EE2A92308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D061A7B9-DF54-6D48-B4E3-A29D280FD5B7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711D03EB-02B0-559C-43CE-45479AB2F30D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997D7161-DEB9-E255-1112-98B8600EE442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D2AF2CC3-57DF-6EF8-B87E-E9CBB413B5CB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40DC2C4-F9C7-20BD-C6B5-3C72FA2F9623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rgbClr val="FFFFFF"/>
                </a:solidFill>
                <a:ea typeface="Calibri"/>
                <a:cs typeface="Calibri"/>
              </a:rPr>
              <a:t>COMPRA</a:t>
            </a:r>
            <a:endParaRPr lang="pt-BR" sz="4000">
              <a:solidFill>
                <a:srgbClr val="FFFFFF"/>
              </a:solidFill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FE16BDC2-386D-5F43-20B8-1CC99519075D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474F0B43-91ED-E730-F5A0-D817B7B09DF9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D0032F4C-743F-7B20-4FC2-74085A729BBA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484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1E944-06C8-2D5C-A80C-DDDC7BD00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DD4C4A-98FE-0002-D645-2D2D45916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36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D58205A3-ABDF-BEC8-5387-951036AE4975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BB5536EA-EFAA-1BB8-F952-6C202EB41B8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DE33CADF-C9D2-A7F5-640D-F368F8E6D09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6E1B7AC6-8A24-964A-4782-71FE8D89C9E0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B0FB2973-41F1-DA67-AF5B-4985ACFEB00B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C51721C2-4373-9804-53E4-B725612DDAC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AA8F2A8-BC20-363E-E359-6FC1744E2F3F}"/>
              </a:ext>
            </a:extLst>
          </p:cNvPr>
          <p:cNvSpPr/>
          <p:nvPr/>
        </p:nvSpPr>
        <p:spPr>
          <a:xfrm>
            <a:off x="5132265" y="5516043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E7999A-7790-21CF-4A5F-7506E11E8AFB}"/>
              </a:ext>
            </a:extLst>
          </p:cNvPr>
          <p:cNvSpPr txBox="1"/>
          <p:nvPr/>
        </p:nvSpPr>
        <p:spPr>
          <a:xfrm>
            <a:off x="5317087" y="5904714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PRINCIPAL</a:t>
            </a:r>
            <a:endParaRPr lang="pt-BR" sz="4000"/>
          </a:p>
        </p:txBody>
      </p:sp>
      <p:sp>
        <p:nvSpPr>
          <p:cNvPr id="17" name="Seta: Dobrada 16">
            <a:extLst>
              <a:ext uri="{FF2B5EF4-FFF2-40B4-BE49-F238E27FC236}">
                <a16:creationId xmlns:a16="http://schemas.microsoft.com/office/drawing/2014/main" id="{64271AB8-2F30-EA7F-4791-0C8D0884F3EA}"/>
              </a:ext>
            </a:extLst>
          </p:cNvPr>
          <p:cNvSpPr/>
          <p:nvPr/>
        </p:nvSpPr>
        <p:spPr>
          <a:xfrm rot="16200000">
            <a:off x="4133319" y="5635453"/>
            <a:ext cx="785314" cy="55519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Dobrada 17">
            <a:extLst>
              <a:ext uri="{FF2B5EF4-FFF2-40B4-BE49-F238E27FC236}">
                <a16:creationId xmlns:a16="http://schemas.microsoft.com/office/drawing/2014/main" id="{AA176FFA-5E4E-91B5-90B3-6E831EAA73E1}"/>
              </a:ext>
            </a:extLst>
          </p:cNvPr>
          <p:cNvSpPr/>
          <p:nvPr/>
        </p:nvSpPr>
        <p:spPr>
          <a:xfrm>
            <a:off x="4450052" y="2688441"/>
            <a:ext cx="1019422" cy="56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4E198592-1549-2012-EEF4-9C1304A624B5}"/>
              </a:ext>
            </a:extLst>
          </p:cNvPr>
          <p:cNvSpPr/>
          <p:nvPr/>
        </p:nvSpPr>
        <p:spPr>
          <a:xfrm>
            <a:off x="7089209" y="3589901"/>
            <a:ext cx="329599" cy="17795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25712B6D-0B05-E46E-C343-9FB88E4F0919}"/>
              </a:ext>
            </a:extLst>
          </p:cNvPr>
          <p:cNvSpPr/>
          <p:nvPr/>
        </p:nvSpPr>
        <p:spPr>
          <a:xfrm rot="16200000">
            <a:off x="8645341" y="5600479"/>
            <a:ext cx="329599" cy="1338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BDC23118-27BC-E2F9-A536-D7579A1BF5D9}"/>
              </a:ext>
            </a:extLst>
          </p:cNvPr>
          <p:cNvSpPr/>
          <p:nvPr/>
        </p:nvSpPr>
        <p:spPr>
          <a:xfrm rot="10800000">
            <a:off x="10587065" y="3713840"/>
            <a:ext cx="329599" cy="16556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21A0893-0C2F-C89A-D333-CC5B95661ECB}"/>
              </a:ext>
            </a:extLst>
          </p:cNvPr>
          <p:cNvSpPr/>
          <p:nvPr/>
        </p:nvSpPr>
        <p:spPr>
          <a:xfrm>
            <a:off x="2846264" y="3712031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C96C1D3-2546-C3CB-49C0-783EF9C986D6}"/>
              </a:ext>
            </a:extLst>
          </p:cNvPr>
          <p:cNvSpPr txBox="1"/>
          <p:nvPr/>
        </p:nvSpPr>
        <p:spPr>
          <a:xfrm>
            <a:off x="3031086" y="4100702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LOGIN</a:t>
            </a:r>
            <a:endParaRPr lang="pt-BR" sz="400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EF96F500-3420-FEF8-6841-33446B46BA75}"/>
              </a:ext>
            </a:extLst>
          </p:cNvPr>
          <p:cNvSpPr/>
          <p:nvPr/>
        </p:nvSpPr>
        <p:spPr>
          <a:xfrm>
            <a:off x="5848360" y="1880476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A71B4557-6FB3-8D5A-61F0-69C7B2AD47FA}"/>
              </a:ext>
            </a:extLst>
          </p:cNvPr>
          <p:cNvSpPr txBox="1"/>
          <p:nvPr/>
        </p:nvSpPr>
        <p:spPr>
          <a:xfrm>
            <a:off x="6033182" y="2269147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CADASTRO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853AEA61-73DF-C2CF-559B-1C2303F38942}"/>
              </a:ext>
            </a:extLst>
          </p:cNvPr>
          <p:cNvSpPr/>
          <p:nvPr/>
        </p:nvSpPr>
        <p:spPr>
          <a:xfrm>
            <a:off x="9718034" y="5571127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23FD0AD-2E62-9A0A-F393-73BC358E43FD}"/>
              </a:ext>
            </a:extLst>
          </p:cNvPr>
          <p:cNvSpPr txBox="1"/>
          <p:nvPr/>
        </p:nvSpPr>
        <p:spPr>
          <a:xfrm>
            <a:off x="9902856" y="5959798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RESERVA</a:t>
            </a:r>
            <a:endParaRPr lang="pt-BR" sz="400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06DB06CC-3ECD-8726-2799-B42C7C57F53E}"/>
              </a:ext>
            </a:extLst>
          </p:cNvPr>
          <p:cNvSpPr/>
          <p:nvPr/>
        </p:nvSpPr>
        <p:spPr>
          <a:xfrm>
            <a:off x="9332445" y="2100815"/>
            <a:ext cx="2816729" cy="14872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3619F8F-6C76-5B26-BFA1-C85EAD519ADC}"/>
              </a:ext>
            </a:extLst>
          </p:cNvPr>
          <p:cNvSpPr txBox="1"/>
          <p:nvPr/>
        </p:nvSpPr>
        <p:spPr>
          <a:xfrm>
            <a:off x="9517267" y="2489486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ea typeface="Calibri"/>
                <a:cs typeface="Calibri"/>
              </a:rPr>
              <a:t>COMPRA</a:t>
            </a:r>
            <a:endParaRPr lang="pt-BR" sz="400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7D43BAA1-B576-9780-FCE8-318C6BCF14F9}"/>
              </a:ext>
            </a:extLst>
          </p:cNvPr>
          <p:cNvSpPr/>
          <p:nvPr/>
        </p:nvSpPr>
        <p:spPr>
          <a:xfrm>
            <a:off x="13326060" y="3670718"/>
            <a:ext cx="2816729" cy="1487276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0">
              <a:ea typeface="Calibri"/>
              <a:cs typeface="Calibri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8A5F27BB-AAA4-762A-3602-42D69C362B3F}"/>
              </a:ext>
            </a:extLst>
          </p:cNvPr>
          <p:cNvSpPr txBox="1"/>
          <p:nvPr/>
        </p:nvSpPr>
        <p:spPr>
          <a:xfrm>
            <a:off x="13510882" y="4059389"/>
            <a:ext cx="24402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>
                <a:solidFill>
                  <a:schemeClr val="bg1"/>
                </a:solidFill>
                <a:ea typeface="Calibri"/>
                <a:cs typeface="Calibri"/>
              </a:rPr>
              <a:t>HISTÓRICO</a:t>
            </a:r>
          </a:p>
        </p:txBody>
      </p:sp>
      <p:sp>
        <p:nvSpPr>
          <p:cNvPr id="41" name="Seta: Dobrada 40">
            <a:extLst>
              <a:ext uri="{FF2B5EF4-FFF2-40B4-BE49-F238E27FC236}">
                <a16:creationId xmlns:a16="http://schemas.microsoft.com/office/drawing/2014/main" id="{57241AF6-6318-F9D9-4736-F6A1B963F550}"/>
              </a:ext>
            </a:extLst>
          </p:cNvPr>
          <p:cNvSpPr/>
          <p:nvPr/>
        </p:nvSpPr>
        <p:spPr>
          <a:xfrm rot="5400000">
            <a:off x="13359944" y="1848406"/>
            <a:ext cx="716460" cy="238674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729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92610-83FA-CAA4-3AD6-2CDAF47BF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587DF9-F51B-AF36-1A21-FD6A6028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335" y="973901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tx1"/>
                </a:solidFill>
              </a:rPr>
              <a:pPr/>
              <a:t>37</a:t>
            </a:fld>
            <a:endParaRPr lang="pt-BR" sz="360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3ABE49DA-9852-4B7B-EF6C-8728F72791B7}"/>
              </a:ext>
            </a:extLst>
          </p:cNvPr>
          <p:cNvGrpSpPr/>
          <p:nvPr/>
        </p:nvGrpSpPr>
        <p:grpSpPr>
          <a:xfrm>
            <a:off x="15945781" y="8047055"/>
            <a:ext cx="3735531" cy="3735531"/>
            <a:chOff x="0" y="0"/>
            <a:chExt cx="812800" cy="812800"/>
          </a:xfrm>
        </p:grpSpPr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EAD0FF02-E00E-0C58-B949-E5DE5A20C3F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C20DE4C9-2AB7-A00D-CBFD-D191C4CD9DF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C56143C3-2B1B-7112-CD80-1B1B4879D3E6}"/>
              </a:ext>
            </a:extLst>
          </p:cNvPr>
          <p:cNvGrpSpPr/>
          <p:nvPr/>
        </p:nvGrpSpPr>
        <p:grpSpPr>
          <a:xfrm>
            <a:off x="-1574254" y="-1674274"/>
            <a:ext cx="13948382" cy="6810024"/>
            <a:chOff x="-2444263" y="-816394"/>
            <a:chExt cx="3180863" cy="1552994"/>
          </a:xfrm>
        </p:grpSpPr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9FF86E06-F610-7971-FC84-4D0C3DB5E52C}"/>
                </a:ext>
              </a:extLst>
            </p:cNvPr>
            <p:cNvSpPr/>
            <p:nvPr/>
          </p:nvSpPr>
          <p:spPr>
            <a:xfrm>
              <a:off x="-2444263" y="-81639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A35776F2-CC16-19A4-D227-1D98245FF3B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" name="Imagem 1">
            <a:extLst>
              <a:ext uri="{FF2B5EF4-FFF2-40B4-BE49-F238E27FC236}">
                <a16:creationId xmlns:a16="http://schemas.microsoft.com/office/drawing/2014/main" id="{DAFD4D42-6798-C57E-1AE9-37B6558CC3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51" t="26679" r="24591" b="17092"/>
          <a:stretch>
            <a:fillRect/>
          </a:stretch>
        </p:blipFill>
        <p:spPr>
          <a:xfrm>
            <a:off x="3350841" y="864060"/>
            <a:ext cx="12371808" cy="822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92884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01EA-C95C-039D-5E09-65A7140F7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A0D358B-33CF-976A-92E2-2ABB87A563D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0406783-B2C3-0EFD-7367-B6FD88CA225B}"/>
              </a:ext>
            </a:extLst>
          </p:cNvPr>
          <p:cNvSpPr/>
          <p:nvPr/>
        </p:nvSpPr>
        <p:spPr>
          <a:xfrm rot="5400000">
            <a:off x="8990215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DA09456-E6D8-4EAB-77C5-A52B1B39B684}"/>
              </a:ext>
            </a:extLst>
          </p:cNvPr>
          <p:cNvSpPr/>
          <p:nvPr/>
        </p:nvSpPr>
        <p:spPr>
          <a:xfrm rot="5400000">
            <a:off x="2832861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68FBEB4-26EF-4744-7B08-F33D09E1B3AF}"/>
              </a:ext>
            </a:extLst>
          </p:cNvPr>
          <p:cNvGrpSpPr/>
          <p:nvPr/>
        </p:nvGrpSpPr>
        <p:grpSpPr>
          <a:xfrm>
            <a:off x="2414548" y="3521420"/>
            <a:ext cx="13458902" cy="3226092"/>
            <a:chOff x="0" y="0"/>
            <a:chExt cx="3203935" cy="116206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BB2F48C-0C88-EA00-0ECB-0BF481489732}"/>
                </a:ext>
              </a:extLst>
            </p:cNvPr>
            <p:cNvSpPr/>
            <p:nvPr/>
          </p:nvSpPr>
          <p:spPr>
            <a:xfrm>
              <a:off x="0" y="0"/>
              <a:ext cx="3203935" cy="1162067"/>
            </a:xfrm>
            <a:custGeom>
              <a:avLst/>
              <a:gdLst/>
              <a:ahLst/>
              <a:cxnLst/>
              <a:rect l="l" t="t" r="r" b="b"/>
              <a:pathLst>
                <a:path w="3203935" h="1162067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0C9527E-2C0D-0697-C615-C0A55E277986}"/>
                </a:ext>
              </a:extLst>
            </p:cNvPr>
            <p:cNvSpPr txBox="1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7404ADF-380A-3D23-1370-60F0275D64D0}"/>
              </a:ext>
            </a:extLst>
          </p:cNvPr>
          <p:cNvSpPr txBox="1"/>
          <p:nvPr/>
        </p:nvSpPr>
        <p:spPr>
          <a:xfrm>
            <a:off x="2405436" y="3897149"/>
            <a:ext cx="13477127" cy="1989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560"/>
              </a:lnSpc>
              <a:spcBef>
                <a:spcPct val="0"/>
              </a:spcBef>
            </a:pPr>
            <a:r>
              <a:rPr lang="pt-BR" sz="6000" b="1">
                <a:solidFill>
                  <a:schemeClr val="bg1"/>
                </a:solidFill>
                <a:latin typeface="Montserrat Bold"/>
                <a:cs typeface="Posterama"/>
              </a:rPr>
              <a:t>PRECIFICAÇÃO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9A676D9-291C-0A7E-0375-24EDC9522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99777" y="958019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38</a:t>
            </a:fld>
            <a:endParaRPr lang="pt-BR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842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A9FA36-DA6B-110B-5BB0-89EF49D97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>
            <a:extLst>
              <a:ext uri="{FF2B5EF4-FFF2-40B4-BE49-F238E27FC236}">
                <a16:creationId xmlns:a16="http://schemas.microsoft.com/office/drawing/2014/main" id="{0A857FAD-B93E-40D0-C03A-241B5236D372}"/>
              </a:ext>
            </a:extLst>
          </p:cNvPr>
          <p:cNvGrpSpPr/>
          <p:nvPr/>
        </p:nvGrpSpPr>
        <p:grpSpPr>
          <a:xfrm>
            <a:off x="-1737738" y="-3381401"/>
            <a:ext cx="4693046" cy="4693046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3CE3AED-17BC-6040-7386-A782E11DF8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4472C4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66352D4E-C684-354E-45FF-170790F4B1E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03744B5-0AC6-0DC4-47E6-C7B851CA244F}"/>
              </a:ext>
            </a:extLst>
          </p:cNvPr>
          <p:cNvGrpSpPr/>
          <p:nvPr/>
        </p:nvGrpSpPr>
        <p:grpSpPr>
          <a:xfrm>
            <a:off x="16531367" y="7677896"/>
            <a:ext cx="4693046" cy="4693046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DF0480D-8452-4ADA-4585-75FAC16B7B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4472C4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658C092-3DC1-E517-2E04-9F63DC4A3CF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F7642539-C98E-4755-D27D-FE8ABC1316D7}"/>
              </a:ext>
            </a:extLst>
          </p:cNvPr>
          <p:cNvSpPr txBox="1"/>
          <p:nvPr/>
        </p:nvSpPr>
        <p:spPr>
          <a:xfrm>
            <a:off x="3844666" y="698503"/>
            <a:ext cx="11032036" cy="8728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51"/>
              </a:lnSpc>
              <a:spcBef>
                <a:spcPct val="0"/>
              </a:spcBef>
            </a:pPr>
            <a:r>
              <a:rPr lang="en-US" sz="5400" b="1">
                <a:solidFill>
                  <a:schemeClr val="tx2"/>
                </a:solidFill>
                <a:latin typeface="Montserrat Bold"/>
              </a:rPr>
              <a:t>CUSTOS </a:t>
            </a:r>
            <a:endParaRPr lang="pt-BR" sz="54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314360-13A0-E509-3CD8-DD82E71E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87437" y="966503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39</a:t>
            </a:fld>
            <a:endParaRPr lang="pt-BR" sz="3600">
              <a:solidFill>
                <a:schemeClr val="bg1"/>
              </a:solidFill>
            </a:endParaRP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2BB08862-AB9E-D3AD-C71A-7476A1480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24776"/>
              </p:ext>
            </p:extLst>
          </p:nvPr>
        </p:nvGraphicFramePr>
        <p:xfrm>
          <a:off x="2485923" y="2054310"/>
          <a:ext cx="10805510" cy="2339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102">
                  <a:extLst>
                    <a:ext uri="{9D8B030D-6E8A-4147-A177-3AD203B41FA5}">
                      <a16:colId xmlns:a16="http://schemas.microsoft.com/office/drawing/2014/main" val="2571942906"/>
                    </a:ext>
                  </a:extLst>
                </a:gridCol>
                <a:gridCol w="2161102">
                  <a:extLst>
                    <a:ext uri="{9D8B030D-6E8A-4147-A177-3AD203B41FA5}">
                      <a16:colId xmlns:a16="http://schemas.microsoft.com/office/drawing/2014/main" val="266684651"/>
                    </a:ext>
                  </a:extLst>
                </a:gridCol>
                <a:gridCol w="2161102">
                  <a:extLst>
                    <a:ext uri="{9D8B030D-6E8A-4147-A177-3AD203B41FA5}">
                      <a16:colId xmlns:a16="http://schemas.microsoft.com/office/drawing/2014/main" val="2031562371"/>
                    </a:ext>
                  </a:extLst>
                </a:gridCol>
                <a:gridCol w="2161102">
                  <a:extLst>
                    <a:ext uri="{9D8B030D-6E8A-4147-A177-3AD203B41FA5}">
                      <a16:colId xmlns:a16="http://schemas.microsoft.com/office/drawing/2014/main" val="1817270162"/>
                    </a:ext>
                  </a:extLst>
                </a:gridCol>
                <a:gridCol w="2161102">
                  <a:extLst>
                    <a:ext uri="{9D8B030D-6E8A-4147-A177-3AD203B41FA5}">
                      <a16:colId xmlns:a16="http://schemas.microsoft.com/office/drawing/2014/main" val="992471789"/>
                    </a:ext>
                  </a:extLst>
                </a:gridCol>
              </a:tblGrid>
              <a:tr h="1023637"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BACKEND/ SERVIDOR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BANCO </a:t>
                      </a:r>
                    </a:p>
                    <a:p>
                      <a:pPr lvl="0" algn="ctr">
                        <a:buNone/>
                      </a:pPr>
                      <a:r>
                        <a:rPr lang="pt-BR" sz="2000"/>
                        <a:t>DE 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IA </a:t>
                      </a:r>
                    </a:p>
                    <a:p>
                      <a:pPr lvl="0" algn="ctr">
                        <a:buNone/>
                      </a:pPr>
                      <a:r>
                        <a:rPr lang="pt-BR" sz="2000"/>
                        <a:t>GEMINI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API </a:t>
                      </a:r>
                    </a:p>
                    <a:p>
                      <a:pPr lvl="0" algn="ctr">
                        <a:buNone/>
                      </a:pPr>
                      <a:r>
                        <a:rPr lang="pt-BR" sz="2000"/>
                        <a:t>AMADEUS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DESENVOLVE-DORES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939803"/>
                  </a:ext>
                </a:extLst>
              </a:tr>
              <a:tr h="131610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1000/MÊS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500/MÊS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300/MÊS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400/MÊS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8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50K/MÊS</a:t>
                      </a:r>
                      <a:endParaRPr lang="pt-B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084581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F8B8875A-599B-A35B-25BB-E0409837E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757452"/>
              </p:ext>
            </p:extLst>
          </p:nvPr>
        </p:nvGraphicFramePr>
        <p:xfrm>
          <a:off x="14580972" y="2038864"/>
          <a:ext cx="2106941" cy="2360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941">
                  <a:extLst>
                    <a:ext uri="{9D8B030D-6E8A-4147-A177-3AD203B41FA5}">
                      <a16:colId xmlns:a16="http://schemas.microsoft.com/office/drawing/2014/main" val="1306393670"/>
                    </a:ext>
                  </a:extLst>
                </a:gridCol>
              </a:tblGrid>
              <a:tr h="1032733"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VALOR</a:t>
                      </a:r>
                    </a:p>
                    <a:p>
                      <a:pPr lvl="0" algn="ctr">
                        <a:buNone/>
                      </a:pPr>
                      <a:r>
                        <a:rPr lang="pt-BR" sz="200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30691"/>
                  </a:ext>
                </a:extLst>
              </a:tr>
              <a:tr h="132780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b="1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52.200/MÊS 626.400/A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8088847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61014E13-8332-1F96-169A-D96E10E91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539749"/>
              </p:ext>
            </p:extLst>
          </p:nvPr>
        </p:nvGraphicFramePr>
        <p:xfrm>
          <a:off x="2945321" y="5730445"/>
          <a:ext cx="8630616" cy="2298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654">
                  <a:extLst>
                    <a:ext uri="{9D8B030D-6E8A-4147-A177-3AD203B41FA5}">
                      <a16:colId xmlns:a16="http://schemas.microsoft.com/office/drawing/2014/main" val="2571942906"/>
                    </a:ext>
                  </a:extLst>
                </a:gridCol>
                <a:gridCol w="2157654">
                  <a:extLst>
                    <a:ext uri="{9D8B030D-6E8A-4147-A177-3AD203B41FA5}">
                      <a16:colId xmlns:a16="http://schemas.microsoft.com/office/drawing/2014/main" val="266684651"/>
                    </a:ext>
                  </a:extLst>
                </a:gridCol>
                <a:gridCol w="2157654">
                  <a:extLst>
                    <a:ext uri="{9D8B030D-6E8A-4147-A177-3AD203B41FA5}">
                      <a16:colId xmlns:a16="http://schemas.microsoft.com/office/drawing/2014/main" val="2031562371"/>
                    </a:ext>
                  </a:extLst>
                </a:gridCol>
                <a:gridCol w="2157654">
                  <a:extLst>
                    <a:ext uri="{9D8B030D-6E8A-4147-A177-3AD203B41FA5}">
                      <a16:colId xmlns:a16="http://schemas.microsoft.com/office/drawing/2014/main" val="1817270162"/>
                    </a:ext>
                  </a:extLst>
                </a:gridCol>
              </a:tblGrid>
              <a:tr h="1008459"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COMISSÃO</a:t>
                      </a:r>
                    </a:p>
                    <a:p>
                      <a:pPr lvl="0" algn="ctr">
                        <a:buNone/>
                      </a:pPr>
                      <a:r>
                        <a:rPr lang="pt-BR" sz="2000"/>
                        <a:t>POR VENDAS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PARCERIAS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ECONOMIA </a:t>
                      </a:r>
                    </a:p>
                    <a:p>
                      <a:pPr lvl="0" algn="ctr">
                        <a:buNone/>
                      </a:pPr>
                      <a:r>
                        <a:rPr lang="pt-BR" sz="2000"/>
                        <a:t>COM ATENDIMENTO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PUBLICIDADE/ ANÚNCIO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939803"/>
                  </a:ext>
                </a:extLst>
              </a:tr>
              <a:tr h="12898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50.000/MÊS</a:t>
                      </a:r>
                      <a:endParaRPr lang="pt-B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10.000/MÊS</a:t>
                      </a:r>
                      <a:endParaRPr lang="pt-B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5.000/MÊS</a:t>
                      </a:r>
                      <a:endParaRPr lang="pt-BR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b="0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18.000/MÊS</a:t>
                      </a:r>
                      <a:endParaRPr lang="pt-BR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084581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8A46A38F-06D1-9327-576D-2647EFD09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483658"/>
              </p:ext>
            </p:extLst>
          </p:nvPr>
        </p:nvGraphicFramePr>
        <p:xfrm>
          <a:off x="12229657" y="5730445"/>
          <a:ext cx="2106941" cy="2319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941">
                  <a:extLst>
                    <a:ext uri="{9D8B030D-6E8A-4147-A177-3AD203B41FA5}">
                      <a16:colId xmlns:a16="http://schemas.microsoft.com/office/drawing/2014/main" val="1306393670"/>
                    </a:ext>
                  </a:extLst>
                </a:gridCol>
              </a:tblGrid>
              <a:tr h="1011977">
                <a:tc>
                  <a:txBody>
                    <a:bodyPr/>
                    <a:lstStyle/>
                    <a:p>
                      <a:pPr algn="ctr"/>
                      <a:r>
                        <a:rPr lang="pt-BR" sz="2000"/>
                        <a:t>VALOR</a:t>
                      </a:r>
                    </a:p>
                    <a:p>
                      <a:pPr lvl="0" algn="ctr">
                        <a:buNone/>
                      </a:pPr>
                      <a:r>
                        <a:rPr lang="pt-BR" sz="200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030691"/>
                  </a:ext>
                </a:extLst>
              </a:tr>
              <a:tr h="130713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b="1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83.000/MÊS</a:t>
                      </a:r>
                    </a:p>
                    <a:p>
                      <a:pPr lvl="0" algn="ctr">
                        <a:buNone/>
                      </a:pPr>
                      <a:r>
                        <a:rPr lang="pt-BR" sz="2400" b="1" i="0" u="none" strike="noStrike" noProof="0">
                          <a:solidFill>
                            <a:srgbClr val="002060"/>
                          </a:solidFill>
                          <a:latin typeface="Montserrat Bold"/>
                        </a:rPr>
                        <a:t>996.000/A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8088847"/>
                  </a:ext>
                </a:extLst>
              </a:tr>
            </a:tbl>
          </a:graphicData>
        </a:graphic>
      </p:graphicFrame>
      <p:sp>
        <p:nvSpPr>
          <p:cNvPr id="23" name="TextBox 26">
            <a:extLst>
              <a:ext uri="{FF2B5EF4-FFF2-40B4-BE49-F238E27FC236}">
                <a16:creationId xmlns:a16="http://schemas.microsoft.com/office/drawing/2014/main" id="{7440BDE6-F62C-D4E5-9AB0-B0389A871D68}"/>
              </a:ext>
            </a:extLst>
          </p:cNvPr>
          <p:cNvSpPr txBox="1"/>
          <p:nvPr/>
        </p:nvSpPr>
        <p:spPr>
          <a:xfrm>
            <a:off x="3546338" y="4710036"/>
            <a:ext cx="11032036" cy="8540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51"/>
              </a:lnSpc>
              <a:spcBef>
                <a:spcPct val="0"/>
              </a:spcBef>
            </a:pPr>
            <a:r>
              <a:rPr lang="en-US" sz="5100" b="1">
                <a:solidFill>
                  <a:schemeClr val="tx2"/>
                </a:solidFill>
                <a:latin typeface="Montserrat Bold"/>
              </a:rPr>
              <a:t>RETORNO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7EC146D-4A0E-6866-16FC-9DB6C6A90809}"/>
              </a:ext>
            </a:extLst>
          </p:cNvPr>
          <p:cNvSpPr txBox="1"/>
          <p:nvPr/>
        </p:nvSpPr>
        <p:spPr>
          <a:xfrm>
            <a:off x="6176513" y="8904617"/>
            <a:ext cx="1210285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>
                <a:solidFill>
                  <a:srgbClr val="002060"/>
                </a:solidFill>
                <a:latin typeface="Montserrat Bold"/>
              </a:rPr>
              <a:t>Lucro Anual = R$ 369.600 </a:t>
            </a:r>
            <a:r>
              <a:rPr lang="pt-BR" sz="3200">
                <a:solidFill>
                  <a:srgbClr val="002060"/>
                </a:solidFill>
                <a:latin typeface="Montserrat Bold"/>
              </a:rPr>
              <a:t>✅</a:t>
            </a:r>
          </a:p>
          <a:p>
            <a:endParaRPr lang="pt-BR" sz="2400">
              <a:solidFill>
                <a:srgbClr val="002060"/>
              </a:solidFill>
              <a:latin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1736957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8238-55BC-0889-79DB-4D3FF78D5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191191-6227-8D9B-9CC5-01B8C389E80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C544F6F-230A-D3D5-B28D-F3D3DF84588C}"/>
              </a:ext>
            </a:extLst>
          </p:cNvPr>
          <p:cNvSpPr/>
          <p:nvPr/>
        </p:nvSpPr>
        <p:spPr>
          <a:xfrm rot="5400000">
            <a:off x="8990215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5A4D059-2316-E626-5633-F7C38014293D}"/>
              </a:ext>
            </a:extLst>
          </p:cNvPr>
          <p:cNvSpPr/>
          <p:nvPr/>
        </p:nvSpPr>
        <p:spPr>
          <a:xfrm rot="5400000">
            <a:off x="2832861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077ACBD-6205-8CA6-4AEC-98DEAC6C451B}"/>
              </a:ext>
            </a:extLst>
          </p:cNvPr>
          <p:cNvGrpSpPr/>
          <p:nvPr/>
        </p:nvGrpSpPr>
        <p:grpSpPr>
          <a:xfrm>
            <a:off x="2414548" y="3521420"/>
            <a:ext cx="13458902" cy="3226092"/>
            <a:chOff x="0" y="0"/>
            <a:chExt cx="3203935" cy="116206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FA95A9F-F434-EE06-94A9-39ED2F09B2FC}"/>
                </a:ext>
              </a:extLst>
            </p:cNvPr>
            <p:cNvSpPr/>
            <p:nvPr/>
          </p:nvSpPr>
          <p:spPr>
            <a:xfrm>
              <a:off x="0" y="0"/>
              <a:ext cx="3203935" cy="1162067"/>
            </a:xfrm>
            <a:custGeom>
              <a:avLst/>
              <a:gdLst/>
              <a:ahLst/>
              <a:cxnLst/>
              <a:rect l="l" t="t" r="r" b="b"/>
              <a:pathLst>
                <a:path w="3203935" h="1162067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CC63420-FABC-8FF1-B896-524273D3CB19}"/>
                </a:ext>
              </a:extLst>
            </p:cNvPr>
            <p:cNvSpPr txBox="1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764073F1-F321-27BF-F544-F4FA9C6932D7}"/>
              </a:ext>
            </a:extLst>
          </p:cNvPr>
          <p:cNvSpPr txBox="1"/>
          <p:nvPr/>
        </p:nvSpPr>
        <p:spPr>
          <a:xfrm>
            <a:off x="2405436" y="3897149"/>
            <a:ext cx="13477127" cy="4364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560"/>
              </a:lnSpc>
              <a:spcBef>
                <a:spcPct val="0"/>
              </a:spcBef>
            </a:pPr>
            <a:r>
              <a:rPr lang="pt-BR" sz="6000" b="1">
                <a:solidFill>
                  <a:schemeClr val="bg1"/>
                </a:solidFill>
                <a:latin typeface="Montserrat Bold"/>
                <a:cs typeface="Posterama"/>
              </a:rPr>
              <a:t>DEMONSTRAÇÃO DO PROTÓTIPO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253753C-14A1-900E-4D62-A14B536C0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99777" y="958019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40</a:t>
            </a:fld>
            <a:endParaRPr lang="pt-BR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584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6314" y="3756316"/>
            <a:ext cx="9962592" cy="172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4510"/>
              </a:lnSpc>
              <a:spcBef>
                <a:spcPct val="0"/>
              </a:spcBef>
            </a:pPr>
            <a:r>
              <a:rPr lang="en-US" sz="10350" b="1">
                <a:solidFill>
                  <a:srgbClr val="0070C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OBRIGADO!</a:t>
            </a:r>
          </a:p>
        </p:txBody>
      </p:sp>
      <p:sp>
        <p:nvSpPr>
          <p:cNvPr id="6" name="Freeform 6"/>
          <p:cNvSpPr/>
          <p:nvPr/>
        </p:nvSpPr>
        <p:spPr>
          <a:xfrm>
            <a:off x="6440143" y="6073362"/>
            <a:ext cx="399176" cy="399176"/>
          </a:xfrm>
          <a:custGeom>
            <a:avLst/>
            <a:gdLst/>
            <a:ahLst/>
            <a:cxnLst/>
            <a:rect l="l" t="t" r="r" b="b"/>
            <a:pathLst>
              <a:path w="399176" h="399176">
                <a:moveTo>
                  <a:pt x="0" y="0"/>
                </a:moveTo>
                <a:lnTo>
                  <a:pt x="399175" y="0"/>
                </a:lnTo>
                <a:lnTo>
                  <a:pt x="399175" y="399175"/>
                </a:lnTo>
                <a:lnTo>
                  <a:pt x="0" y="3991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40143" y="6633944"/>
            <a:ext cx="399176" cy="399176"/>
          </a:xfrm>
          <a:custGeom>
            <a:avLst/>
            <a:gdLst/>
            <a:ahLst/>
            <a:cxnLst/>
            <a:rect l="l" t="t" r="r" b="b"/>
            <a:pathLst>
              <a:path w="399176" h="399176">
                <a:moveTo>
                  <a:pt x="0" y="0"/>
                </a:moveTo>
                <a:lnTo>
                  <a:pt x="399175" y="0"/>
                </a:lnTo>
                <a:lnTo>
                  <a:pt x="399175" y="399176"/>
                </a:lnTo>
                <a:lnTo>
                  <a:pt x="0" y="3991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6440143" y="7202088"/>
            <a:ext cx="399176" cy="399176"/>
          </a:xfrm>
          <a:custGeom>
            <a:avLst/>
            <a:gdLst/>
            <a:ahLst/>
            <a:cxnLst/>
            <a:rect l="l" t="t" r="r" b="b"/>
            <a:pathLst>
              <a:path w="399176" h="399176">
                <a:moveTo>
                  <a:pt x="0" y="0"/>
                </a:moveTo>
                <a:lnTo>
                  <a:pt x="399175" y="0"/>
                </a:lnTo>
                <a:lnTo>
                  <a:pt x="399175" y="399176"/>
                </a:lnTo>
                <a:lnTo>
                  <a:pt x="0" y="3991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6976665" y="6669470"/>
            <a:ext cx="3788059" cy="31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534"/>
              </a:lnSpc>
              <a:spcBef>
                <a:spcPct val="0"/>
              </a:spcBef>
            </a:pPr>
            <a:r>
              <a:rPr lang="en-US" sz="2000" spc="-36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www.code5.com.br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36855" y="7200420"/>
            <a:ext cx="5888706" cy="1096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pt-BR" u="sng" spc="-36">
                <a:solidFill>
                  <a:srgbClr val="0070C0"/>
                </a:solidFill>
                <a:latin typeface="Poppins"/>
                <a:ea typeface="Poppins"/>
                <a:cs typeface="Poppins"/>
              </a:rPr>
              <a:t>Endereço: Rua da Inovação, 123 - Sala 501, Centro - São Luís/MA, CEP 65000-000</a:t>
            </a:r>
            <a:endParaRPr lang="en-US" spc="-36">
              <a:solidFill>
                <a:srgbClr val="0070C0"/>
              </a:solidFill>
              <a:latin typeface="Poppins"/>
              <a:ea typeface="Poppins"/>
              <a:cs typeface="Poppins"/>
            </a:endParaRPr>
          </a:p>
          <a:p>
            <a:pPr lvl="1"/>
            <a:endParaRPr lang="pt-BR" sz="1400" u="sng" spc="-36">
              <a:solidFill>
                <a:srgbClr val="D13438"/>
              </a:solidFill>
              <a:latin typeface="Aptos"/>
              <a:ea typeface="Poppins"/>
              <a:cs typeface="Poppins"/>
            </a:endParaRPr>
          </a:p>
          <a:p>
            <a:pPr marL="0" lvl="1" indent="0" algn="l">
              <a:lnSpc>
                <a:spcPts val="2534"/>
              </a:lnSpc>
              <a:spcBef>
                <a:spcPct val="0"/>
              </a:spcBef>
            </a:pPr>
            <a:endParaRPr lang="en-US" sz="2400" spc="-36">
              <a:solidFill>
                <a:srgbClr val="145DA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976665" y="6056392"/>
            <a:ext cx="3559508" cy="31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2534"/>
              </a:lnSpc>
              <a:spcBef>
                <a:spcPct val="0"/>
              </a:spcBef>
            </a:pPr>
            <a:r>
              <a:rPr lang="en-US" sz="2000" spc="-36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+123 45 0816143005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-1559" y="-921038"/>
            <a:ext cx="18526785" cy="1721129"/>
            <a:chOff x="0" y="-38100"/>
            <a:chExt cx="1551036" cy="2374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0070C0"/>
            </a:solidFill>
            <a:ln cap="sq">
              <a:solidFill>
                <a:srgbClr val="4472C4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777937" y="9702569"/>
            <a:ext cx="19561956" cy="1058883"/>
            <a:chOff x="0" y="0"/>
            <a:chExt cx="1551036" cy="1993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51036" cy="199364"/>
            </a:xfrm>
            <a:custGeom>
              <a:avLst/>
              <a:gdLst/>
              <a:ahLst/>
              <a:cxnLst/>
              <a:rect l="l" t="t" r="r" b="b"/>
              <a:pathLst>
                <a:path w="1551036" h="199364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0070C0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551036" cy="237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501F2B9-244A-29A6-108F-42689811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59781" y="972356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41</a:t>
            </a:fld>
            <a:endParaRPr lang="pt-BR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27" name="Imagem 26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3292E378-F4E4-F291-C0D7-F298342723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7308" t="34866" r="17308" b="35812"/>
          <a:stretch>
            <a:fillRect/>
          </a:stretch>
        </p:blipFill>
        <p:spPr>
          <a:xfrm>
            <a:off x="2596311" y="1399072"/>
            <a:ext cx="2875442" cy="1174222"/>
          </a:xfrm>
          <a:prstGeom prst="rect">
            <a:avLst/>
          </a:prstGeom>
        </p:spPr>
      </p:pic>
      <p:pic>
        <p:nvPicPr>
          <p:cNvPr id="30" name="Imagem 29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B03CE438-F733-83ED-61F1-52CE411FF8B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65566" y="360693"/>
            <a:ext cx="2894721" cy="2992514"/>
          </a:xfrm>
          <a:prstGeom prst="rect">
            <a:avLst/>
          </a:prstGeom>
        </p:spPr>
      </p:pic>
      <p:pic>
        <p:nvPicPr>
          <p:cNvPr id="32" name="Imagem 31" descr="Logotipo&#10;&#10;O conteúdo gerado por IA pode estar incorreto.">
            <a:extLst>
              <a:ext uri="{FF2B5EF4-FFF2-40B4-BE49-F238E27FC236}">
                <a16:creationId xmlns:a16="http://schemas.microsoft.com/office/drawing/2014/main" id="{B3567083-0282-64A6-3B80-41A0928B6F7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92458" y="795528"/>
            <a:ext cx="2236061" cy="21226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83713"/>
            <a:ext cx="15895482" cy="8284605"/>
            <a:chOff x="0" y="-38100"/>
            <a:chExt cx="4342959" cy="2164167"/>
          </a:xfrm>
        </p:grpSpPr>
        <p:sp>
          <p:nvSpPr>
            <p:cNvPr id="3" name="Freeform 3"/>
            <p:cNvSpPr/>
            <p:nvPr/>
          </p:nvSpPr>
          <p:spPr>
            <a:xfrm>
              <a:off x="0" y="12975"/>
              <a:ext cx="4342959" cy="2113092"/>
            </a:xfrm>
            <a:custGeom>
              <a:avLst/>
              <a:gdLst/>
              <a:ahLst/>
              <a:cxnLst/>
              <a:rect l="l" t="t" r="r" b="b"/>
              <a:pathLst>
                <a:path w="2106826" h="2113092">
                  <a:moveTo>
                    <a:pt x="0" y="0"/>
                  </a:moveTo>
                  <a:lnTo>
                    <a:pt x="2106826" y="0"/>
                  </a:lnTo>
                  <a:lnTo>
                    <a:pt x="2106826" y="2113092"/>
                  </a:lnTo>
                  <a:lnTo>
                    <a:pt x="0" y="2113092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06826" cy="2151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05997" y="1303273"/>
            <a:ext cx="4939816" cy="886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02"/>
              </a:lnSpc>
              <a:spcBef>
                <a:spcPct val="0"/>
              </a:spcBef>
            </a:pPr>
            <a:r>
              <a:rPr lang="en-US" sz="4000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</a:rPr>
              <a:t>REFERÊNCIAS</a:t>
            </a:r>
            <a:endParaRPr lang="en-US" sz="4000" b="1" u="none" strike="noStrike">
              <a:solidFill>
                <a:srgbClr val="FDFDFD"/>
              </a:solidFill>
              <a:latin typeface="Montserrat Bold"/>
              <a:ea typeface="Montserrat Bold"/>
              <a:cs typeface="Montserrat Bold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16">
            <a:extLst>
              <a:ext uri="{FF2B5EF4-FFF2-40B4-BE49-F238E27FC236}">
                <a16:creationId xmlns:a16="http://schemas.microsoft.com/office/drawing/2014/main" id="{E132A64C-BD0F-425A-ABC1-2BB6CB9DD269}"/>
              </a:ext>
            </a:extLst>
          </p:cNvPr>
          <p:cNvGrpSpPr/>
          <p:nvPr/>
        </p:nvGrpSpPr>
        <p:grpSpPr>
          <a:xfrm>
            <a:off x="1028700" y="8600571"/>
            <a:ext cx="15509333" cy="765848"/>
            <a:chOff x="0" y="-38100"/>
            <a:chExt cx="2106826" cy="158227"/>
          </a:xfrm>
        </p:grpSpPr>
        <p:sp>
          <p:nvSpPr>
            <p:cNvPr id="37" name="Freeform 17">
              <a:extLst>
                <a:ext uri="{FF2B5EF4-FFF2-40B4-BE49-F238E27FC236}">
                  <a16:creationId xmlns:a16="http://schemas.microsoft.com/office/drawing/2014/main" id="{34D50BF1-91DC-E5A9-FEEC-C54236183A12}"/>
                </a:ext>
              </a:extLst>
            </p:cNvPr>
            <p:cNvSpPr/>
            <p:nvPr/>
          </p:nvSpPr>
          <p:spPr>
            <a:xfrm>
              <a:off x="0" y="0"/>
              <a:ext cx="2106826" cy="120127"/>
            </a:xfrm>
            <a:custGeom>
              <a:avLst/>
              <a:gdLst/>
              <a:ahLst/>
              <a:cxnLst/>
              <a:rect l="l" t="t" r="r" b="b"/>
              <a:pathLst>
                <a:path w="2106826" h="120127">
                  <a:moveTo>
                    <a:pt x="0" y="0"/>
                  </a:moveTo>
                  <a:lnTo>
                    <a:pt x="2106826" y="0"/>
                  </a:lnTo>
                  <a:lnTo>
                    <a:pt x="2106826" y="120127"/>
                  </a:lnTo>
                  <a:lnTo>
                    <a:pt x="0" y="120127"/>
                  </a:lnTo>
                  <a:close/>
                </a:path>
              </a:pathLst>
            </a:custGeom>
            <a:solidFill>
              <a:srgbClr val="145DA0">
                <a:alpha val="4862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18">
              <a:extLst>
                <a:ext uri="{FF2B5EF4-FFF2-40B4-BE49-F238E27FC236}">
                  <a16:creationId xmlns:a16="http://schemas.microsoft.com/office/drawing/2014/main" id="{684DD9DC-0A6E-A852-5A63-9C0939FBEA10}"/>
                </a:ext>
              </a:extLst>
            </p:cNvPr>
            <p:cNvSpPr txBox="1"/>
            <p:nvPr/>
          </p:nvSpPr>
          <p:spPr>
            <a:xfrm>
              <a:off x="0" y="-38100"/>
              <a:ext cx="2106826" cy="158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A2CCA55-29CD-F4B3-E79A-9DEA34C54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496403" y="9553661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600" dirty="0" smtClean="0">
                <a:solidFill>
                  <a:schemeClr val="bg1"/>
                </a:solidFill>
              </a:rPr>
              <a:pPr/>
              <a:t>42</a:t>
            </a:fld>
            <a:endParaRPr lang="pt-BR" sz="3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91EF6D1-6AE6-44A6-B371-6622E07E89D6}"/>
              </a:ext>
            </a:extLst>
          </p:cNvPr>
          <p:cNvSpPr txBox="1"/>
          <p:nvPr/>
        </p:nvSpPr>
        <p:spPr>
          <a:xfrm>
            <a:off x="1702294" y="2362571"/>
            <a:ext cx="14506112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ASSOCIAÇÃO INTERNACIONAL DE TRANSPORTE AÉREO (IATA).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400" i="1">
                <a:solidFill>
                  <a:schemeClr val="bg1"/>
                </a:solidFill>
                <a:ea typeface="Calibri"/>
                <a:cs typeface="Calibri"/>
              </a:rPr>
              <a:t>Passenger forecast to 2040 shows doubling of air travel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.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Genebra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, 2022.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Disponível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em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: https://www.iata.org/en/pressroom/2022-releases/2022-12-07-01/.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Acesso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em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: 30 jun. 2025.</a:t>
            </a:r>
            <a:endParaRPr lang="pt-BR" sz="2400">
              <a:solidFill>
                <a:schemeClr val="bg1"/>
              </a:solidFill>
              <a:ea typeface="Calibri"/>
              <a:cs typeface="Calibri"/>
            </a:endParaRPr>
          </a:p>
          <a:p>
            <a:pPr algn="just"/>
            <a:endParaRPr lang="en-US" sz="2400">
              <a:solidFill>
                <a:schemeClr val="bg1"/>
              </a:solidFill>
              <a:ea typeface="Calibri"/>
              <a:cs typeface="Calibri"/>
            </a:endParaRPr>
          </a:p>
          <a:p>
            <a:pPr algn="just"/>
            <a:r>
              <a:rPr lang="en-US" sz="2400">
                <a:solidFill>
                  <a:schemeClr val="bg1"/>
                </a:solidFill>
              </a:rPr>
              <a:t>BEZERRA, Eduardo. </a:t>
            </a:r>
            <a:r>
              <a:rPr lang="en-US" sz="2400" b="1" err="1">
                <a:solidFill>
                  <a:schemeClr val="bg1"/>
                </a:solidFill>
              </a:rPr>
              <a:t>Princípios</a:t>
            </a:r>
            <a:r>
              <a:rPr lang="en-US" sz="2400" b="1">
                <a:solidFill>
                  <a:schemeClr val="bg1"/>
                </a:solidFill>
              </a:rPr>
              <a:t> de </a:t>
            </a:r>
            <a:r>
              <a:rPr lang="en-US" sz="2400" b="1" err="1">
                <a:solidFill>
                  <a:schemeClr val="bg1"/>
                </a:solidFill>
              </a:rPr>
              <a:t>análise</a:t>
            </a:r>
            <a:r>
              <a:rPr lang="en-US" sz="2400" b="1">
                <a:solidFill>
                  <a:schemeClr val="bg1"/>
                </a:solidFill>
              </a:rPr>
              <a:t> e </a:t>
            </a:r>
            <a:r>
              <a:rPr lang="en-US" sz="2400" b="1" err="1">
                <a:solidFill>
                  <a:schemeClr val="bg1"/>
                </a:solidFill>
              </a:rPr>
              <a:t>projeto</a:t>
            </a:r>
            <a:r>
              <a:rPr lang="en-US" sz="2400" b="1">
                <a:solidFill>
                  <a:schemeClr val="bg1"/>
                </a:solidFill>
              </a:rPr>
              <a:t> de </a:t>
            </a:r>
            <a:r>
              <a:rPr lang="en-US" sz="2400" b="1" err="1">
                <a:solidFill>
                  <a:schemeClr val="bg1"/>
                </a:solidFill>
              </a:rPr>
              <a:t>sistemas</a:t>
            </a:r>
            <a:r>
              <a:rPr lang="en-US" sz="2400" b="1">
                <a:solidFill>
                  <a:schemeClr val="bg1"/>
                </a:solidFill>
              </a:rPr>
              <a:t> com UML: um </a:t>
            </a:r>
            <a:r>
              <a:rPr lang="en-US" sz="2400" b="1" err="1">
                <a:solidFill>
                  <a:schemeClr val="bg1"/>
                </a:solidFill>
              </a:rPr>
              <a:t>guia</a:t>
            </a:r>
            <a:r>
              <a:rPr lang="en-US" sz="2400" b="1">
                <a:solidFill>
                  <a:schemeClr val="bg1"/>
                </a:solidFill>
              </a:rPr>
              <a:t> </a:t>
            </a:r>
            <a:r>
              <a:rPr lang="en-US" sz="2400" b="1" err="1">
                <a:solidFill>
                  <a:schemeClr val="bg1"/>
                </a:solidFill>
              </a:rPr>
              <a:t>prático</a:t>
            </a:r>
            <a:r>
              <a:rPr lang="en-US" sz="2400" b="1">
                <a:solidFill>
                  <a:schemeClr val="bg1"/>
                </a:solidFill>
              </a:rPr>
              <a:t> para </a:t>
            </a:r>
            <a:r>
              <a:rPr lang="en-US" sz="2400" b="1" err="1">
                <a:solidFill>
                  <a:schemeClr val="bg1"/>
                </a:solidFill>
              </a:rPr>
              <a:t>modelagem</a:t>
            </a:r>
            <a:r>
              <a:rPr lang="en-US" sz="2400" b="1">
                <a:solidFill>
                  <a:schemeClr val="bg1"/>
                </a:solidFill>
              </a:rPr>
              <a:t> de </a:t>
            </a:r>
            <a:r>
              <a:rPr lang="en-US" sz="2400" b="1" err="1">
                <a:solidFill>
                  <a:schemeClr val="bg1"/>
                </a:solidFill>
              </a:rPr>
              <a:t>sistemas</a:t>
            </a:r>
            <a:r>
              <a:rPr lang="en-US" sz="2400" b="1">
                <a:solidFill>
                  <a:schemeClr val="bg1"/>
                </a:solidFill>
              </a:rPr>
              <a:t> </a:t>
            </a:r>
            <a:r>
              <a:rPr lang="en-US" sz="2400" b="1" err="1">
                <a:solidFill>
                  <a:schemeClr val="bg1"/>
                </a:solidFill>
              </a:rPr>
              <a:t>orientados</a:t>
            </a:r>
            <a:r>
              <a:rPr lang="en-US" sz="2400" b="1">
                <a:solidFill>
                  <a:schemeClr val="bg1"/>
                </a:solidFill>
              </a:rPr>
              <a:t> a </a:t>
            </a:r>
            <a:r>
              <a:rPr lang="en-US" sz="2400" b="1" err="1">
                <a:solidFill>
                  <a:schemeClr val="bg1"/>
                </a:solidFill>
              </a:rPr>
              <a:t>objetos</a:t>
            </a:r>
            <a:r>
              <a:rPr lang="en-US" sz="2400" b="1">
                <a:solidFill>
                  <a:schemeClr val="bg1"/>
                </a:solidFill>
              </a:rPr>
              <a:t> </a:t>
            </a:r>
            <a:r>
              <a:rPr lang="en-US" sz="2400" b="1" err="1">
                <a:solidFill>
                  <a:schemeClr val="bg1"/>
                </a:solidFill>
              </a:rPr>
              <a:t>através</a:t>
            </a:r>
            <a:r>
              <a:rPr lang="en-US" sz="2400" b="1">
                <a:solidFill>
                  <a:schemeClr val="bg1"/>
                </a:solidFill>
              </a:rPr>
              <a:t> da UML</a:t>
            </a:r>
            <a:r>
              <a:rPr lang="en-US" sz="2400">
                <a:solidFill>
                  <a:schemeClr val="bg1"/>
                </a:solidFill>
              </a:rPr>
              <a:t>. 2. ed. Rio de Janeiro: Elsevier, 2008.</a:t>
            </a:r>
            <a:endParaRPr lang="en-US" sz="2400">
              <a:solidFill>
                <a:schemeClr val="bg1"/>
              </a:solidFill>
              <a:ea typeface="Calibri"/>
              <a:cs typeface="Calibri"/>
            </a:endParaRPr>
          </a:p>
          <a:p>
            <a:pPr algn="just"/>
            <a:endParaRPr lang="en-US" sz="2400">
              <a:solidFill>
                <a:schemeClr val="bg1"/>
              </a:solidFill>
              <a:ea typeface="Calibri"/>
              <a:cs typeface="Calibri"/>
            </a:endParaRPr>
          </a:p>
          <a:p>
            <a:pPr algn="just"/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IATA. Key Trends in </a:t>
            </a:r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Passenger Behavior: Insights from the IATA Global Passenger Survey 2024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[site]. 5 de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novembro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de 2024.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DIsponivel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em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: 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https://www.iata.org/en/publications/newsletters/iata-knowledge-hub/key-trends-in-passenger-behavior/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.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Acesso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em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: 02 de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junho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de 2025.</a:t>
            </a:r>
          </a:p>
          <a:p>
            <a:pPr algn="just"/>
            <a:endParaRPr lang="en-US" sz="2400">
              <a:solidFill>
                <a:schemeClr val="bg1"/>
              </a:solidFill>
              <a:ea typeface="Calibri"/>
              <a:cs typeface="Calibri"/>
            </a:endParaRPr>
          </a:p>
          <a:p>
            <a:pPr algn="just"/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FOWLER, Martin. </a:t>
            </a:r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UML </a:t>
            </a:r>
            <a:r>
              <a:rPr lang="en-US" sz="2400" b="1" err="1">
                <a:solidFill>
                  <a:schemeClr val="bg1"/>
                </a:solidFill>
                <a:ea typeface="Calibri"/>
                <a:cs typeface="Calibri"/>
              </a:rPr>
              <a:t>essencial</a:t>
            </a:r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: um breve </a:t>
            </a:r>
            <a:r>
              <a:rPr lang="en-US" sz="2400" b="1" err="1">
                <a:solidFill>
                  <a:schemeClr val="bg1"/>
                </a:solidFill>
                <a:ea typeface="Calibri"/>
                <a:cs typeface="Calibri"/>
              </a:rPr>
              <a:t>guia</a:t>
            </a:r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 para a </a:t>
            </a:r>
            <a:r>
              <a:rPr lang="en-US" sz="2400" b="1" err="1">
                <a:solidFill>
                  <a:schemeClr val="bg1"/>
                </a:solidFill>
                <a:ea typeface="Calibri"/>
                <a:cs typeface="Calibri"/>
              </a:rPr>
              <a:t>linguagem-padrão</a:t>
            </a:r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 de </a:t>
            </a:r>
            <a:r>
              <a:rPr lang="en-US" sz="2400" b="1" err="1">
                <a:solidFill>
                  <a:schemeClr val="bg1"/>
                </a:solidFill>
                <a:ea typeface="Calibri"/>
                <a:cs typeface="Calibri"/>
              </a:rPr>
              <a:t>modelagem</a:t>
            </a:r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 de </a:t>
            </a:r>
            <a:r>
              <a:rPr lang="en-US" sz="2400" b="1" err="1">
                <a:solidFill>
                  <a:schemeClr val="bg1"/>
                </a:solidFill>
                <a:ea typeface="Calibri"/>
                <a:cs typeface="Calibri"/>
              </a:rPr>
              <a:t>objetos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. 3. ed. Porto Alegre: Bookman, 2005.</a:t>
            </a:r>
          </a:p>
          <a:p>
            <a:pPr algn="just"/>
            <a:endParaRPr lang="en-US" sz="2400">
              <a:solidFill>
                <a:schemeClr val="bg1"/>
              </a:solidFill>
              <a:ea typeface="Calibri"/>
              <a:cs typeface="Calibri"/>
            </a:endParaRPr>
          </a:p>
          <a:p>
            <a:pPr algn="just"/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OBJECT MANAGEMENT GROUP (OMG). </a:t>
            </a:r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Unified Modeling Language (UUL) Version 2.5.1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. [S. l.]: OMG, 2017.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Disponível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400" err="1">
                <a:solidFill>
                  <a:schemeClr val="bg1"/>
                </a:solidFill>
                <a:ea typeface="Calibri"/>
                <a:cs typeface="Calibri"/>
              </a:rPr>
              <a:t>em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: 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https://www.omg.org/spec/UML/2.5.1/PDF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.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Personalizar</PresentationFormat>
  <Slides>42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3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Professional Modern Technology Pitch Deck Presentation</dc:title>
  <cp:revision>4</cp:revision>
  <dcterms:created xsi:type="dcterms:W3CDTF">2006-08-16T00:00:00Z</dcterms:created>
  <dcterms:modified xsi:type="dcterms:W3CDTF">2025-07-02T01:28:27Z</dcterms:modified>
  <dc:identifier>DAGpirekSPM</dc:identifier>
</cp:coreProperties>
</file>